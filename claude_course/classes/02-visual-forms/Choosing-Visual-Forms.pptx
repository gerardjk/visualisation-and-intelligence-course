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0A8B1"/>
                </a:solidFill>
                <a:latin typeface="Aptos"/>
              </a:rPr>
              <a:t>36104 · CLASS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ptos"/>
              </a:rPr>
              <a:t>Choosing Visual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9152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Aptos"/>
              </a:rPr>
              <a:t>Encoding, tidy data,
and the Visual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3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0A8B1"/>
                </a:solidFill>
                <a:latin typeface="Aptos"/>
              </a:rPr>
              <a:t>What visual task are we performing?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Data Visualisation and Narratives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THE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Good chart choice begins with the analytical task, not with the visual effect.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Opening question: before you pick a chart—what comparison must the reader actually make?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By the end of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424160" cy="42976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Rank visual channels by the precision with which people read them.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Classify an analytical question into an FT Visual Vocabulary category.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Map a visual task to candidate chart forms—and name what each could mislead.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Reshape wide data to tidy long form, by hand and with an AI assistant.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Verify AI-wrangled data: identifiers, row counts, types, missing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Channels are read at different precision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After Cleveland &amp; McGill (1984)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44752"/>
            <a:ext cx="457200" cy="45720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53896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42646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2636"/>
                </a:solidFill>
                <a:latin typeface="Aptos"/>
              </a:rPr>
              <a:t>Position on a common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2646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the workhorse — dot plots, scatterplots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457200" cy="45720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1226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08483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2636"/>
                </a:solidFill>
                <a:latin typeface="Aptos"/>
              </a:rPr>
              <a:t>Position on unaligned scales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8483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small multiples pay a small tax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61488"/>
            <a:ext cx="457200" cy="45720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70632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743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2636"/>
                </a:solidFill>
                <a:latin typeface="Aptos"/>
              </a:rPr>
              <a:t>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43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bars — but only from a zero 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19856"/>
            <a:ext cx="457200" cy="45720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40156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2636"/>
                </a:solidFill>
                <a:latin typeface="Aptos"/>
              </a:rPr>
              <a:t>Angle · slope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40156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pie charts and line slopes blur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078224"/>
            <a:ext cx="457200" cy="45720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87368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05993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2636"/>
                </a:solidFill>
                <a:latin typeface="Aptos"/>
              </a:rPr>
              <a:t>Area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05993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bubbles compress differences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36592"/>
            <a:ext cx="457200" cy="45720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45736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71830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2636"/>
                </a:solidFill>
                <a:latin typeface="Aptos"/>
              </a:rPr>
              <a:t>Colour value · saturation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71830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ordered, but coarse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394960"/>
            <a:ext cx="457200" cy="45720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0410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537667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2636"/>
                </a:solidFill>
                <a:latin typeface="Aptos"/>
              </a:rPr>
              <a:t>Colour hue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37667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categories only — never magnitude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When the channel fights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Mohs (1825)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mohs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6944"/>
            <a:ext cx="7132320" cy="4241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Rank ≠ magnitude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Mohs hardness is an ordinal ladder. Encoded as evenly spaced bars it looks linear—but real hardness explodes near the top.
The channel you choose asserts a scale. Choose one the data can honour.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THE SHARED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Nine families of visual task. Every chart in this course belongs to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Deviation · Correlation · Ranking · Distribution · Change over time · Magnitude · Part-to-whole · Spatial ·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The FT Visual Vocabulary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1848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Values differ from a baseline or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1848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Variables move together or apart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77440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42032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51460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Ordering items by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377440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542032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51460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Spread, range, clusters, outliers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73552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38144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CHANGE OVER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41071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Temporal pattern and trend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273552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438144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MAGNITUDE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41071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Comparing sizes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169664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3425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PART-TO-WHOLE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30682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Composition of a total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169664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33425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SPATIAL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430682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Location and geography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65776"/>
            <a:ext cx="52578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036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20293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Movement, transfer, connection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Distribution: show the spread, not the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Tukey (1977)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boxplot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9916"/>
            <a:ext cx="7132320" cy="4215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The box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Median, quartiles, whiskers, outliers — five numbers standing in for the whole spread.
Alternatives: histogram, dot plot, violin, density. Each reveals what the box compresses.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Change over time: the line over time is an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Keeling (1960– 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keeling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4340"/>
            <a:ext cx="7132320" cy="4226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The Keeling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A rising saw-tooth: seasonal breathing on a relentless trend.
The aspect ratio, the baseline and the window all change what the reader concludes.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Correlation: two variables, one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Hertzsprung &amp; Russell (1910s)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hr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3317"/>
            <a:ext cx="7132320" cy="44886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Hertzsprung–Russell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A scatterplot of star brightness against temperature revealed the structure of stellar evolution.
Position on both axes — the highest-precision channels doing the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Spatial and flow: geography and movement carry the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Minard (1869)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minard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58" y="1417320"/>
            <a:ext cx="6932164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Minard’s march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Position, band width, colour and temperature in one plane — a flow map carrying an argument about catastrophe.
Spatial and flow forms are powerful and expensive: use them when location or movement is the task.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Colour is an encoding, not a decoration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Hawkins (2018)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climatestripes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606"/>
            <a:ext cx="7132320" cy="42340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Climate stripes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One channel — colour — encoding one variable, ordered and diverging around a baseline.
Colour rules: sequential for ordered data, diverging around a meaningful midpoint, categorical hues only for categories. Check colour-blind safety.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Colour rules, in six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18488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Ordered data: light → dark, one hue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DIVERGING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18488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Two directions around a meaningful midpoint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CATEGORICAL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99816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Distinct hues for categories — never magnitude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12724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COLOUR-BLIND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099816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≈8% of men can't split red/green — check every palette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0857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RAINBOW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581144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Jet invents boundaries that aren't in the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60857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GREY IS A COLOUR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581144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Mute the context, spend hue on the 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Ranking meets the scale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Zipf (1949)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zipf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3171"/>
            <a:ext cx="7132320" cy="4228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Zipf’s law of cities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Rank cities by size and plot on log–log: a straight line appears — structure the linear view hides completely.
The task (ranking) chose the form; the data chose the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Distribution split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Walker (1874)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population-pyramid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4378"/>
            <a:ext cx="7132320" cy="42464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The population pyramid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Back-to-back bars: one distribution per group, mirrored so the shape of a whole population reads at a glance.
Youthful and broad, or ageing and top-heavy — the silhouette is the finding.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Flow: where the quantity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Sankey (1898) · 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sankey-outpu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31299"/>
            <a:ext cx="7132320" cy="43726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The Sankey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Band width is the quantity; the branching shows where it goes. Energy in, useful work and losses out.
Use flow forms when the reader's task is tracing movement — not just comparing totals.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Spatial: the map is the task — and the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Reproduction generated from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pic>
        <p:nvPicPr>
          <p:cNvPr id="8" name="Picture 7" descr="fig-choropleth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2559"/>
            <a:ext cx="7132320" cy="37901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Choropleth vs cartogram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262B"/>
                </a:solidFill>
                <a:latin typeface="Aptos"/>
              </a:rPr>
              <a:t>Colour by area and big empty regions dominate; size by population and geography distorts. Every map trades truth for truth.
Ask: is location genuinely the task, or is a sorted bar chart the honest answer?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Baselines, aspect, and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ZERO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18488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Bars encode length — they must start at zero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LINES MAY ZOOM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18488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Position encodings can crop — say so on the axis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ASPECT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99816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Bank slopes toward 45° to keep change readable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127248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SORT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099816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Alphabetical is a decision too — usually the wrong 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0857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DUAL AXES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581144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Two scales invite any story — small multiples instead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608576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ANNOTATE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581144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Title the finding; label the point that carries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THINK · PAIR ·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Sketch: monthly ridership for six regions, 2019–2025. Which form — and which channel does the work?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3 minutes solo sketch · 4 minutes compare in pairs · as a room: what did everyone choose, and what did nobody choose?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Tidy data: the shape charts want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Wickham, “Tidy Data” (2014)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6852"/>
                </a:solidFill>
                <a:latin typeface="Aptos"/>
              </a:rPr>
              <a:t>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636"/>
                </a:solidFill>
                <a:latin typeface="Aptos"/>
              </a:rPr>
              <a:t>each variable is a column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6852"/>
                </a:solidFill>
                <a:latin typeface="Aptos"/>
              </a:rPr>
              <a:t>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2140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636"/>
                </a:solidFill>
                <a:latin typeface="Aptos"/>
              </a:rPr>
              <a:t>each observation is a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544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83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6852"/>
                </a:solidFill>
                <a:latin typeface="Aptos"/>
              </a:rPr>
              <a:t>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2140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2636"/>
                </a:solidFill>
                <a:latin typeface="Aptos"/>
              </a:rPr>
              <a:t>each value is a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Wide → long is the reshape you will perform most often: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57600"/>
            <a:ext cx="10607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88620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62B"/>
                </a:solidFill>
                <a:latin typeface="Consolas"/>
              </a:rPr>
              <a:t>region      2023    2024    2025            region   year   riders
Inner       1.30M   1.41M   1.52M    →      Inner    2023   1.30M
Western     1.05M   1.13M   1.24M           Inner    2024   1.41M
                                            Western  2023   1.05M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26C73"/>
                </a:solidFill>
                <a:latin typeface="Aptos"/>
              </a:rPr>
              <a:t>Tidy structure feeds Tableau, pandas, Altair — and AI-generated 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AI-assisted wrangling: generate, then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961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813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IDENTIFIERS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453896"/>
            <a:ext cx="7772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Are the key columns intact — no invented or dropped categories?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77440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77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ROW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50008"/>
            <a:ext cx="7772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Does the reshaped row count equal what arithmetic predicts?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73552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355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246120"/>
            <a:ext cx="7772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Numbers still numeric, dates still dates — no silent strings?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9664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8795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6966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142232"/>
            <a:ext cx="7772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Where did NaNs appear, and are they real or created?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65776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8406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06577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SPOT TOTALS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038344"/>
            <a:ext cx="7772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Does one hand-computed total match the transformed table?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Notebook: classify, reshape, redesign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Open visual_forms_activities.ipynb in VS Code with your AI assistant on.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1 — channel precision: judge the same values in five encodings.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2 — reshape the wide transport table to tidy long form; run the five checks.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3 — classify six analytical questions into Vocabulary categories and draft one chart.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4 — aspect ratio and baseline: same data, three impressions.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5 — colour: pick the palette family for three datasets, then prove it.</a:t>
            </a:r>
          </a:p>
          <a:p>
            <a:pPr>
              <a:spcAft>
                <a:spcPts val="1100"/>
              </a:spcAft>
              <a:defRPr sz="2200">
                <a:solidFill>
                  <a:srgbClr val="1F262B"/>
                </a:solidFill>
                <a:latin typeface="Aptos"/>
              </a:defRPr>
            </a:pPr>
            <a:r>
              <a:t>•  Exercise 6 — redesign the weak chart three ways, one category per redesign.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Back in 10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When we return: the redesign studio — bring your weak-chart diagnosis.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THE COMMON MISTAKE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Choosing the most impressive form instead of the form the task needs.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Does the visual form fit the task—or does it encourage an easier but wrong interpretation?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STUDIO · 45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Redesign ×3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Take the weak chart. Redesign it three ways — each serving a different Visual Vocabulary category.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850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Diagnose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20116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Name the task the original fails.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36850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Redesign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4160520"/>
            <a:ext cx="20116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Three sketches, three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6850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160520"/>
            <a:ext cx="20116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Justify each category and form choice.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7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36850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4160520"/>
            <a:ext cx="20116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Trade one redesign; name one risk.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CLASS 2 · 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Today’s three-hour rhythm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38328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6852"/>
                </a:solidFill>
                <a:latin typeface="Aptos"/>
              </a:rPr>
              <a:t>HOUR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Channels and the Vocabulary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862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Precision · nine families · colour · baselines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1645920"/>
            <a:ext cx="3383280" cy="502920"/>
          </a:xfrm>
          <a:prstGeom prst="roundRect">
            <a:avLst/>
          </a:prstGeom>
          <a:solidFill>
            <a:srgbClr val="18678F"/>
          </a:solidFill>
          <a:ln>
            <a:solidFill>
              <a:srgbClr val="186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423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678F"/>
                </a:solidFill>
                <a:latin typeface="Aptos"/>
              </a:rPr>
              <a:t>HOUR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83464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Tidy data and AI wrangling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8862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Notebook: reshape, verify, classify, colour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3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4463" y="1645920"/>
            <a:ext cx="3383280" cy="502920"/>
          </a:xfrm>
          <a:prstGeom prst="roundRect">
            <a:avLst/>
          </a:prstGeom>
          <a:solidFill>
            <a:srgbClr val="30A8B1"/>
          </a:solidFill>
          <a:ln>
            <a:solidFill>
              <a:srgbClr val="30A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3" y="2423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0A8B1"/>
                </a:solidFill>
                <a:latin typeface="Aptos"/>
              </a:rPr>
              <a:t>HOUR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283464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Redesign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3886200"/>
            <a:ext cx="2788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Weak chart ×3 redesigns · critique · quiz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15 minutes. Open book, closed assistant.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Today's vocabulary: channels and their precision, the nine task families, tidy data, the five wrangling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EXIT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Does the selected visual form fit the task, or does it encourage an easier but wrong interpretation?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Bring one chart you suspect uses the wrong form to the next class — it becomes Critique 2 material.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Visual Forms</dc:title>
  <dc:subject>36104 Data Visualisation and Narratives</dc:subject>
  <dc:creator>Gerard Kelly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