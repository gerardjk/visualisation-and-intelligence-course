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canvas.uts.edu.au/courses/41964/quizzes/140096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58368"/>
            <a:ext cx="7315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36104 · DATA VISUALISATION AND NARRATIVES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4241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Aptos"/>
              </a:rPr>
              <a:t>Seeing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14600"/>
            <a:ext cx="978408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0">
                <a:solidFill>
                  <a:srgbClr val="FFFFFF"/>
                </a:solidFill>
                <a:latin typeface="Aptos"/>
              </a:rPr>
              <a:t>Visualisation, intelligence and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74920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0A8B1"/>
                </a:solidFill>
                <a:latin typeface="Aptos"/>
              </a:rPr>
              <a:t>How do charts create meaning?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8932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Choose a compatible group working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44752"/>
            <a:ext cx="7543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For the later group assignment, which environment would you prefer?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212848"/>
            <a:ext cx="73152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68296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66852"/>
                </a:solidFill>
                <a:latin typeface="Aptos"/>
              </a:rPr>
              <a:t>AI-ASSISTED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40864"/>
            <a:ext cx="4983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F262B"/>
                </a:solidFill>
                <a:latin typeface="Aptos"/>
              </a:rPr>
              <a:t>Approved recording or transcription tools may be 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273552"/>
            <a:ext cx="73152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429000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66852"/>
                </a:solidFill>
                <a:latin typeface="Aptos"/>
              </a:rPr>
              <a:t>NO AI RECORDING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01568"/>
            <a:ext cx="4983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F262B"/>
                </a:solidFill>
                <a:latin typeface="Aptos"/>
              </a:rPr>
              <a:t>AI-assisted recording or transcription will not be 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334256"/>
            <a:ext cx="73152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489704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66852"/>
                </a:solidFill>
                <a:latin typeface="Aptos"/>
              </a:rPr>
              <a:t>NO PREFERENCE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462272"/>
            <a:ext cx="4983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F262B"/>
                </a:solidFill>
                <a:latin typeface="Aptos"/>
              </a:rPr>
              <a:t>Either working environment is acceptable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1481328"/>
            <a:ext cx="2788920" cy="3310128"/>
          </a:xfrm>
          <a:prstGeom prst="roundRect">
            <a:avLst/>
          </a:prstGeom>
          <a:solidFill>
            <a:srgbClr val="122636"/>
          </a:solidFill>
          <a:ln>
            <a:solidFill>
              <a:srgbClr val="12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810512"/>
            <a:ext cx="2148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30A8B1"/>
                </a:solidFill>
                <a:latin typeface="Aptos"/>
              </a:rPr>
              <a:t>CANVAS SURVEY</a:t>
            </a:r>
          </a:p>
        </p:txBody>
      </p:sp>
      <p:pic>
        <p:nvPicPr>
          <p:cNvPr id="17" name="Picture 16" descr="canvas_group_preference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267712"/>
            <a:ext cx="1874518" cy="187451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732520" y="4352544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30A8B1"/>
                </a:solidFill>
                <a:latin typeface="Aptos"/>
                <a:hlinkClick r:id="rId3"/>
              </a:rPr>
              <a:t>OPEN SURVEY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559552"/>
            <a:ext cx="10588752" cy="585216"/>
          </a:xfrm>
          <a:prstGeom prst="roundRect">
            <a:avLst/>
          </a:prstGeom>
          <a:solidFill>
            <a:srgbClr val="E2EBEE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696712"/>
            <a:ext cx="10104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22636"/>
                </a:solidFill>
                <a:latin typeface="Aptos"/>
              </a:rPr>
              <a:t>No academic advantage or penalty. Preference is private and changeable. Group choice is not blanket consent to every recording.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Seeing Data · private preference survey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Authorise the workflow—and name its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246120" cy="4434840"/>
          </a:xfrm>
          <a:prstGeom prst="roundRect">
            <a:avLst/>
          </a:prstGeom>
          <a:solidFill>
            <a:srgbClr val="122636"/>
          </a:solidFill>
          <a:ln>
            <a:solidFill>
              <a:srgbClr val="12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10512"/>
            <a:ext cx="26060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THE REFRAME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59152"/>
            <a:ext cx="2651760" cy="23317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State permitted AI-assisted coding practices in writing—then align them with current UTS and faculty requirements.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074920"/>
            <a:ext cx="26517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0A8B1"/>
                </a:solidFill>
                <a:latin typeface="Aptos"/>
              </a:rPr>
              <a:t>Educational authorisation is not the same as institutional procurement or security approval.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536192"/>
            <a:ext cx="7086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62B"/>
                </a:solidFill>
                <a:latin typeface="Aptos"/>
              </a:defRPr>
            </a:pPr>
            <a:r>
              <a:t>•  Verified GitHub Education students can access Copilot Student without charge.</a:t>
            </a:r>
          </a:p>
          <a:p>
            <a:pPr>
              <a:spcAft>
                <a:spcPts val="1000"/>
              </a:spcAft>
              <a:defRPr sz="1800">
                <a:solidFill>
                  <a:srgbClr val="1F262B"/>
                </a:solidFill>
                <a:latin typeface="Aptos"/>
              </a:defRPr>
            </a:pPr>
            <a:r>
              <a:t>•  Copilot works in VS Code and notebooks, but operates outside the UTS Microsoft tenant.</a:t>
            </a:r>
          </a:p>
          <a:p>
            <a:pPr>
              <a:spcAft>
                <a:spcPts val="1000"/>
              </a:spcAft>
              <a:defRPr sz="1800">
                <a:solidFill>
                  <a:srgbClr val="1F262B"/>
                </a:solidFill>
                <a:latin typeface="Aptos"/>
              </a:defRPr>
            </a:pPr>
            <a:r>
              <a:t>•  Do not enter personal, confidential, restricted or unpublished assessment data.</a:t>
            </a:r>
          </a:p>
          <a:p>
            <a:pPr>
              <a:spcAft>
                <a:spcPts val="1000"/>
              </a:spcAft>
              <a:defRPr sz="1800">
                <a:solidFill>
                  <a:srgbClr val="1F262B"/>
                </a:solidFill>
                <a:latin typeface="Aptos"/>
              </a:defRPr>
            </a:pPr>
            <a:r>
              <a:t>•  Individual-plan interactions may be used for model improvement unless the user opts out.</a:t>
            </a:r>
          </a:p>
          <a:p>
            <a:pPr>
              <a:spcAft>
                <a:spcPts val="1000"/>
              </a:spcAft>
              <a:defRPr sz="1800">
                <a:solidFill>
                  <a:srgbClr val="1F262B"/>
                </a:solidFill>
                <a:latin typeface="Aptos"/>
              </a:defRPr>
            </a:pPr>
            <a:r>
              <a:t>•  Retention and agent behaviour vary by feature and model.</a:t>
            </a:r>
          </a:p>
          <a:p>
            <a:pPr>
              <a:spcAft>
                <a:spcPts val="1000"/>
              </a:spcAft>
              <a:defRPr sz="1800">
                <a:solidFill>
                  <a:srgbClr val="1F262B"/>
                </a:solidFill>
                <a:latin typeface="Aptos"/>
              </a:defRPr>
            </a:pPr>
            <a:r>
              <a:t>•  Students must review, test, explain and disclose generated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5897880"/>
            <a:ext cx="6903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66852"/>
                </a:solidFill>
                <a:latin typeface="Aptos"/>
              </a:rPr>
              <a:t>Before publishing: confirm current UTS/faculty rules and GitHub data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Seeing Data · policy framing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THE 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61872"/>
            <a:ext cx="10698480" cy="2743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A chart is a claim about how the world is organised.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864608"/>
            <a:ext cx="10652760" cy="100584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Write: what has the designer chosen to make visible—and what remains invisible?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What you will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Distinguish evidence, encoding, observation, insight and narrative.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Identify unsupported or overconfident interpretation.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Explain how visual choices shape meaning.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Verify and repair an AI-assisted chart interpretation.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Seeing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PREDICT BEFORE LOOKING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61872"/>
            <a:ext cx="10698480" cy="2743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Four datasets share the same mean, variance, correlation and regression 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864608"/>
            <a:ext cx="10652760" cy="100584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Sketch what you expect. How similar should the four plots look?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Looking changes the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anscombe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782" y="1417320"/>
            <a:ext cx="6238036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60020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874519"/>
            <a:ext cx="29718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What does the summary conceal?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Which panel changes your interpretation most?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What should be checked before making a claim?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Anscombe (1973) · reproduction generated from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From evidence to narrative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920240"/>
            <a:ext cx="1801367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267712"/>
            <a:ext cx="152704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8678F"/>
                </a:solidFill>
                <a:latin typeface="Aptos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61488"/>
            <a:ext cx="15270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636"/>
                </a:solidFill>
                <a:latin typeface="Aptos"/>
              </a:rPr>
              <a:t>structured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606040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920240"/>
            <a:ext cx="1801367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267712"/>
            <a:ext cx="152704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8678F"/>
                </a:solidFill>
                <a:latin typeface="Aptos"/>
              </a:rPr>
              <a:t>ENCODING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761488"/>
            <a:ext cx="15270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636"/>
                </a:solidFill>
                <a:latin typeface="Aptos"/>
              </a:rPr>
              <a:t>selective visual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06040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4607" y="1920240"/>
            <a:ext cx="1801367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1768" y="2267712"/>
            <a:ext cx="152704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8678F"/>
                </a:solidFill>
                <a:latin typeface="Aptos"/>
              </a:rPr>
              <a:t>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761488"/>
            <a:ext cx="15270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636"/>
                </a:solidFill>
                <a:latin typeface="Aptos"/>
              </a:rPr>
              <a:t>visible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5" y="2606040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86015" y="1920240"/>
            <a:ext cx="1801367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3175" y="2267712"/>
            <a:ext cx="152704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8678F"/>
                </a:solidFill>
                <a:latin typeface="Aptos"/>
              </a:rPr>
              <a:t>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3175" y="2761488"/>
            <a:ext cx="15270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636"/>
                </a:solidFill>
                <a:latin typeface="Aptos"/>
              </a:rPr>
              <a:t>interpretation to justify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7384" y="2606040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07424" y="1920240"/>
            <a:ext cx="1801367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4" y="2267712"/>
            <a:ext cx="152704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8678F"/>
                </a:solidFill>
                <a:latin typeface="Aptos"/>
              </a:rPr>
              <a:t>NARRATIVE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2761488"/>
            <a:ext cx="15270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636"/>
                </a:solidFill>
                <a:latin typeface="Aptos"/>
              </a:rPr>
              <a:t>ordered account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54880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0">
                <a:solidFill>
                  <a:srgbClr val="606C73"/>
                </a:solidFill>
                <a:latin typeface="Aptos"/>
              </a:rPr>
              <a:t>Every transition involves selection, comparison, compression, framing and omission.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Seeing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Observation is not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7406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Observation: deaths appear concentrated near one pump.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Interpretation: proximity to that pump may be associated with illness.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Causal claim: contaminated pump water caused the outbreak.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691640"/>
            <a:ext cx="2880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965960"/>
            <a:ext cx="2331720" cy="2834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2636"/>
                </a:solidFill>
                <a:latin typeface="Aptos"/>
              </a:rPr>
              <a:t>What additional evidence is required at each step?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Seeing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A picture can become an argument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snow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33" y="1417320"/>
            <a:ext cx="4606533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60020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874519"/>
            <a:ext cx="29718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What is encoded spatially?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What alternatives could create this pattern?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How did the map work with other evidence?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Snow (1855) · reproduction generated from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VISUALISATION AND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61872"/>
            <a:ext cx="10698480" cy="2743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Fluent interpretation is not the same as valid interpretation.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864608"/>
            <a:ext cx="10652760" cy="100584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Responsibility for a submitted claim remains with the student.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Audit generated language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Supported directly — visible or calculated from the supplied data.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Plausible but unverified — possible, but needs context or another test.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Unsupported — no available evidence establishes it.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Contradicted — the available evidence points against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Seeing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A true value can still be framed misleadingly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gram_satisfaction_trunc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59065"/>
            <a:ext cx="7040880" cy="39171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60020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874519"/>
            <a:ext cx="29718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What impression does the axis encourage?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What does the title claim?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What evidence is missing?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Teaching artefact · synthetic comparison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Verification ladder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Trace — identify data and transformation.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Check — inspect labels, units, scales and totals.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Test — create another view or calculation.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Bound — state uncertainty and limitation.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Disclose — record the intelligent tool’s contribution.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Seeing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Representation is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aiatsis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806" y="1417320"/>
            <a:ext cx="5719987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60020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874519"/>
            <a:ext cx="29718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Who is represented?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Who controls reuse?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Who benefits?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Who could be harmed?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What should not be visualised?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AIATSIS acknowledgement placeholder—not the copyright 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The visual grammar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bertin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91393"/>
            <a:ext cx="7040880" cy="46524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60020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874519"/>
            <a:ext cx="29718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Position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Size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Value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Texture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Colour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Orientation and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Bertin (1967) · reproduction generated from 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Notebook checkpoints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7406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Predict before calculating.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Verify the shared summaries.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Plot using common scales.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Classify generated claims.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Mislead without changing data, then repair.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Record provenance.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691640"/>
            <a:ext cx="2880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965960"/>
            <a:ext cx="2331720" cy="2834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2636"/>
                </a:solidFill>
                <a:latin typeface="Aptos"/>
              </a:rPr>
              <a:t>Use the starter notebook only if syntax blocks the reasoning task.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Seeing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Critique and Repair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Identify claim, audience and intended decision.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Separate observation from interpretation.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Name the visual task and channels.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Identify omission, overclaim or possible harm.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Specify verification and propose one concrete repair.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Seeing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61872"/>
            <a:ext cx="10698480" cy="2743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Could this visualisation lead someone to believe something the data does not support?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864608"/>
            <a:ext cx="10652760" cy="100584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Record one claim, one limitation and one thing to verify.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Seeing Data</dc:title>
  <dc:subject/>
  <dc:creator>Gerard Kelly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