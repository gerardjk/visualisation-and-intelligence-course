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6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30A8B1"/>
                </a:solidFill>
                <a:latin typeface="Aptos"/>
              </a:rPr>
              <a:t>36104 · CLASS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0" b="1">
                <a:solidFill>
                  <a:srgbClr val="FFFFFF"/>
                </a:solidFill>
                <a:latin typeface="Aptos"/>
              </a:rPr>
              <a:t>Seeing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59152"/>
            <a:ext cx="877824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0">
                <a:solidFill>
                  <a:srgbClr val="FFFFFF"/>
                </a:solidFill>
                <a:latin typeface="Aptos"/>
              </a:rPr>
              <a:t>Visualisation, intelligence,
and interpretation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6636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30A8B1"/>
                </a:solidFill>
                <a:latin typeface="Aptos"/>
              </a:rPr>
              <a:t>How do charts create meaning?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Data Visualisation and Narratives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6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0A8B1"/>
                </a:solidFill>
                <a:latin typeface="Aptos"/>
              </a:rPr>
              <a:t>THE PREMISE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607040" cy="2926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A chart is a claim about how the world is organised.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4892040"/>
            <a:ext cx="10607040" cy="1051560"/>
          </a:xfrm>
          <a:prstGeom prst="roundRect">
            <a:avLst/>
          </a:prstGeom>
          <a:solidFill>
            <a:srgbClr val="1E394A"/>
          </a:solidFill>
          <a:ln>
            <a:solidFill>
              <a:srgbClr val="1E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138928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Aptos"/>
              </a:rPr>
              <a:t>Opening question: What has the designer chosen to make visible—and what remains invisible?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5029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30A8B1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CLASS 1 · SEEING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2636"/>
                </a:solidFill>
                <a:latin typeface="Aptos"/>
              </a:rPr>
              <a:t>By the end of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91440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26C73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26C73"/>
                </a:solidFill>
                <a:latin typeface="Aptos"/>
              </a:rPr>
              <a:t>How the World Is Organised · Gerard Kelly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565392"/>
            <a:ext cx="3246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26C73"/>
                </a:solidFill>
                <a:latin typeface="Aptos"/>
              </a:rPr>
              <a:t>36104 Data Visualisation and Narratives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424160" cy="4297680"/>
          </a:xfrm>
          <a:prstGeom prst="rect">
            <a:avLst/>
          </a:prstGeom>
          <a:noFill/>
        </p:spPr>
        <p:txBody>
          <a:bodyPr wrap="square" lIns="45720" rIns="18288">
            <a:spAutoFit/>
          </a:bodyPr>
          <a:lstStyle/>
          <a:p>
            <a:pPr>
              <a:spcAft>
                <a:spcPts val="1100"/>
              </a:spcAft>
              <a:defRPr sz="2500">
                <a:solidFill>
                  <a:srgbClr val="1F262B"/>
                </a:solidFill>
                <a:latin typeface="Aptos"/>
              </a:defRPr>
            </a:pPr>
            <a:r>
              <a:t>•  Explain how selection, encoding and framing turn data into meaning.</a:t>
            </a:r>
          </a:p>
          <a:p>
            <a:pPr>
              <a:spcAft>
                <a:spcPts val="1100"/>
              </a:spcAft>
              <a:defRPr sz="2500">
                <a:solidFill>
                  <a:srgbClr val="1F262B"/>
                </a:solidFill>
                <a:latin typeface="Aptos"/>
              </a:defRPr>
            </a:pPr>
            <a:r>
              <a:t>•  Distinguish a fluent interpretation from a justified insight.</a:t>
            </a:r>
          </a:p>
          <a:p>
            <a:pPr>
              <a:spcAft>
                <a:spcPts val="1100"/>
              </a:spcAft>
              <a:defRPr sz="2500">
                <a:solidFill>
                  <a:srgbClr val="1F262B"/>
                </a:solidFill>
                <a:latin typeface="Aptos"/>
              </a:defRPr>
            </a:pPr>
            <a:r>
              <a:t>•  Identify omissions, uncertainty and governance questions in a visualisation.</a:t>
            </a:r>
          </a:p>
          <a:p>
            <a:pPr>
              <a:spcAft>
                <a:spcPts val="1100"/>
              </a:spcAft>
              <a:defRPr sz="2500">
                <a:solidFill>
                  <a:srgbClr val="1F262B"/>
                </a:solidFill>
                <a:latin typeface="Aptos"/>
              </a:defRPr>
            </a:pPr>
            <a:r>
              <a:t>•  Use an AI assistant to build a chart—and verify every claim it makes about the data.</a:t>
            </a:r>
          </a:p>
          <a:p>
            <a:pPr>
              <a:spcAft>
                <a:spcPts val="1100"/>
              </a:spcAft>
              <a:defRPr sz="2500">
                <a:solidFill>
                  <a:srgbClr val="1F262B"/>
                </a:solidFill>
                <a:latin typeface="Aptos"/>
              </a:defRPr>
            </a:pPr>
            <a:r>
              <a:t>•  Critique a human-made chart and an AI-generated interpretation.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CLASS 1 · SEEING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2636"/>
                </a:solidFill>
                <a:latin typeface="Aptos"/>
              </a:rPr>
              <a:t>From evidence to narrative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91440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26C73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26C73"/>
                </a:solidFill>
                <a:latin typeface="Aptos"/>
              </a:rPr>
              <a:t>How the World Is Organised · Gerard Kelly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565392"/>
            <a:ext cx="3246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26C73"/>
                </a:solidFill>
                <a:latin typeface="Aptos"/>
              </a:rPr>
              <a:t>36104 Data Visualisation and Narratives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2240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04288"/>
            <a:ext cx="187451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8678F"/>
                </a:solidFill>
                <a:latin typeface="Aptos"/>
              </a:rPr>
              <a:t>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187451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122636"/>
                </a:solidFill>
                <a:latin typeface="Aptos"/>
              </a:rPr>
              <a:t>structured
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624328"/>
            <a:ext cx="4389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E66852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39" y="2011680"/>
            <a:ext cx="2240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19" y="2304288"/>
            <a:ext cx="187451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8678F"/>
                </a:solidFill>
                <a:latin typeface="Aptos"/>
              </a:rPr>
              <a:t>ENCODING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19" y="2788920"/>
            <a:ext cx="187451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122636"/>
                </a:solidFill>
                <a:latin typeface="Aptos"/>
              </a:rPr>
              <a:t>a selective
visual 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59" y="2624328"/>
            <a:ext cx="4389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E66852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011680"/>
            <a:ext cx="2240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304288"/>
            <a:ext cx="187451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8678F"/>
                </a:solidFill>
                <a:latin typeface="Aptos"/>
              </a:rPr>
              <a:t>CLAIM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788920"/>
            <a:ext cx="187451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122636"/>
                </a:solidFill>
                <a:latin typeface="Aptos"/>
              </a:rPr>
              <a:t>an interpretation
to justify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624328"/>
            <a:ext cx="4389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E66852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1159" y="2011680"/>
            <a:ext cx="2240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64039" y="2304288"/>
            <a:ext cx="187451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8678F"/>
                </a:solidFill>
                <a:latin typeface="Aptos"/>
              </a:rPr>
              <a:t>NARRATIVE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39" y="2788920"/>
            <a:ext cx="187451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122636"/>
                </a:solidFill>
                <a:latin typeface="Aptos"/>
              </a:rPr>
              <a:t>an ordered
account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80060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626C73"/>
                </a:solidFill>
                <a:latin typeface="Aptos"/>
              </a:rPr>
              <a:t>At every step: selection · comparison · compression · framing · omission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6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0A8B1"/>
                </a:solidFill>
                <a:latin typeface="Aptos"/>
              </a:rPr>
              <a:t>COLD OPEN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607040" cy="2926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Four datasets. The same mean, variance, correlation and regression line.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4892040"/>
            <a:ext cx="10607040" cy="1051560"/>
          </a:xfrm>
          <a:prstGeom prst="roundRect">
            <a:avLst/>
          </a:prstGeom>
          <a:solidFill>
            <a:srgbClr val="1E394A"/>
          </a:solidFill>
          <a:ln>
            <a:solidFill>
              <a:srgbClr val="1E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138928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Aptos"/>
              </a:rPr>
              <a:t>Prediction: will the four datasets look essentially the same?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5029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30A8B1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CLASS 1 · SEEING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2636"/>
                </a:solidFill>
                <a:latin typeface="Aptos"/>
              </a:rPr>
              <a:t>Looking changes the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91440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26C73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26C73"/>
                </a:solidFill>
                <a:latin typeface="Aptos"/>
              </a:rPr>
              <a:t>Anscombe (1973) · reproduction generated from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565392"/>
            <a:ext cx="3246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26C73"/>
                </a:solidFill>
                <a:latin typeface="Aptos"/>
              </a:rPr>
              <a:t>36104 Data Visualisation and Narratives</a:t>
            </a:r>
          </a:p>
        </p:txBody>
      </p:sp>
      <p:pic>
        <p:nvPicPr>
          <p:cNvPr id="8" name="Picture 7" descr="fig-anscombe-outpu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222" y="1417320"/>
            <a:ext cx="6238036" cy="48006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01000" y="1600200"/>
            <a:ext cx="356616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74519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66852"/>
                </a:solidFill>
                <a:latin typeface="Aptos"/>
              </a:rPr>
              <a:t>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2331720"/>
            <a:ext cx="2834640" cy="2651760"/>
          </a:xfrm>
          <a:prstGeom prst="rect">
            <a:avLst/>
          </a:prstGeom>
          <a:noFill/>
        </p:spPr>
        <p:txBody>
          <a:bodyPr wrap="square" lIns="45720" rIns="18288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1F262B"/>
                </a:solidFill>
                <a:latin typeface="Aptos"/>
              </a:defRPr>
            </a:pPr>
            <a:r>
              <a:t>•  What does the summary hide?</a:t>
            </a:r>
          </a:p>
          <a:p>
            <a:pPr>
              <a:spcAft>
                <a:spcPts val="1100"/>
              </a:spcAft>
              <a:defRPr sz="2000">
                <a:solidFill>
                  <a:srgbClr val="1F262B"/>
                </a:solidFill>
                <a:latin typeface="Aptos"/>
              </a:defRPr>
            </a:pPr>
            <a:r>
              <a:t>•  Which panel changes your interpretation most?</a:t>
            </a:r>
          </a:p>
          <a:p>
            <a:pPr>
              <a:spcAft>
                <a:spcPts val="1100"/>
              </a:spcAft>
              <a:defRPr sz="2000">
                <a:solidFill>
                  <a:srgbClr val="1F262B"/>
                </a:solidFill>
                <a:latin typeface="Aptos"/>
              </a:defRPr>
            </a:pPr>
            <a:r>
              <a:t>•  What verification should precede a claim?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CLASS 1 · SEEING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2636"/>
                </a:solidFill>
                <a:latin typeface="Aptos"/>
              </a:rPr>
              <a:t>A picture can become an argument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91440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26C73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26C73"/>
                </a:solidFill>
                <a:latin typeface="Aptos"/>
              </a:rPr>
              <a:t>Snow (1855) · reproduction generated from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565392"/>
            <a:ext cx="3246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26C73"/>
                </a:solidFill>
                <a:latin typeface="Aptos"/>
              </a:rPr>
              <a:t>36104 Data Visualisation and Narratives</a:t>
            </a:r>
          </a:p>
        </p:txBody>
      </p:sp>
      <p:pic>
        <p:nvPicPr>
          <p:cNvPr id="8" name="Picture 7" descr="fig-snow-outpu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973" y="1417320"/>
            <a:ext cx="4606533" cy="4800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92440" y="1664208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22636"/>
                </a:solidFill>
                <a:latin typeface="Aptos"/>
              </a:rPr>
              <a:t>John Snow’s cholera 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377440"/>
            <a:ext cx="35204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1F262B"/>
                </a:solidFill>
                <a:latin typeface="Aptos"/>
              </a:rPr>
              <a:t>Deaths cluster around a water pump. Spatial arrangement turns individual cases into a claim about cause.
Question: what evidence would strengthen—or weaken—the causal claim?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6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0A8B1"/>
                </a:solidFill>
                <a:latin typeface="Aptos"/>
              </a:rPr>
              <a:t>VISUALISATION +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607040" cy="2926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Fluent interpretation is not the same as valid interpretation.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4892040"/>
            <a:ext cx="10607040" cy="1051560"/>
          </a:xfrm>
          <a:prstGeom prst="roundRect">
            <a:avLst/>
          </a:prstGeom>
          <a:solidFill>
            <a:srgbClr val="1E394A"/>
          </a:solidFill>
          <a:ln>
            <a:solidFill>
              <a:srgbClr val="1E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138928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Aptos"/>
              </a:rPr>
              <a:t>An AI system can describe a pattern confidently without checking whether the data supports the claim.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5029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30A8B1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CLASS 1 · SEEING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2636"/>
                </a:solidFill>
                <a:latin typeface="Aptos"/>
              </a:rPr>
              <a:t>A verification ladder for generated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91440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26C73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26C73"/>
                </a:solidFill>
                <a:latin typeface="Aptos"/>
              </a:rPr>
              <a:t>How the World Is Organised · Gerard Kelly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565392"/>
            <a:ext cx="3246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26C73"/>
                </a:solidFill>
                <a:latin typeface="Aptos"/>
              </a:rPr>
              <a:t>36104 Data Visualisation and Narratives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81328"/>
            <a:ext cx="502920" cy="502920"/>
          </a:xfrm>
          <a:prstGeom prst="round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99616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481328"/>
            <a:ext cx="1325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8678F"/>
                </a:solidFill>
                <a:latin typeface="Aptos"/>
              </a:rPr>
              <a:t>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1453896"/>
            <a:ext cx="80467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F262B"/>
                </a:solidFill>
                <a:latin typeface="Aptos"/>
              </a:rPr>
              <a:t>What data and transformation produced the chart?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377440"/>
            <a:ext cx="502920" cy="502920"/>
          </a:xfrm>
          <a:prstGeom prst="round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395728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377440"/>
            <a:ext cx="1325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8678F"/>
                </a:solidFill>
                <a:latin typeface="Aptos"/>
              </a:rPr>
              <a:t>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350008"/>
            <a:ext cx="80467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F262B"/>
                </a:solidFill>
                <a:latin typeface="Aptos"/>
              </a:rPr>
              <a:t>Do labels, scales, units and totals agree?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273552"/>
            <a:ext cx="502920" cy="502920"/>
          </a:xfrm>
          <a:prstGeom prst="round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291840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273552"/>
            <a:ext cx="1325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8678F"/>
                </a:solidFill>
                <a:latin typeface="Aptos"/>
              </a:rPr>
              <a:t>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3246120"/>
            <a:ext cx="80467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F262B"/>
                </a:solidFill>
                <a:latin typeface="Aptos"/>
              </a:rPr>
              <a:t>Does the visual pattern survive another view?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169664"/>
            <a:ext cx="502920" cy="502920"/>
          </a:xfrm>
          <a:prstGeom prst="round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187952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169664"/>
            <a:ext cx="1325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8678F"/>
                </a:solidFill>
                <a:latin typeface="Aptos"/>
              </a:rPr>
              <a:t>BOUND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4142232"/>
            <a:ext cx="80467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F262B"/>
                </a:solidFill>
                <a:latin typeface="Aptos"/>
              </a:rPr>
              <a:t>What uncertainty or limitation qualifies the claim?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065776"/>
            <a:ext cx="502920" cy="502920"/>
          </a:xfrm>
          <a:prstGeom prst="round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084064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065776"/>
            <a:ext cx="1325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8678F"/>
                </a:solidFill>
                <a:latin typeface="Aptos"/>
              </a:rPr>
              <a:t>DISCLOSE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8920" y="5038344"/>
            <a:ext cx="80467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F262B"/>
                </a:solidFill>
                <a:latin typeface="Aptos"/>
              </a:rPr>
              <a:t>What did the intelligent tool contribute?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6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0A8B1"/>
                </a:solidFill>
                <a:latin typeface="Aptos"/>
              </a:rPr>
              <a:t>HOW CHARTS LIE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607040" cy="2926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A chart can be perfectly accurate and still mislead.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4892040"/>
            <a:ext cx="10607040" cy="1051560"/>
          </a:xfrm>
          <a:prstGeom prst="roundRect">
            <a:avLst/>
          </a:prstGeom>
          <a:solidFill>
            <a:srgbClr val="1E394A"/>
          </a:solidFill>
          <a:ln>
            <a:solidFill>
              <a:srgbClr val="1E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138928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Aptos"/>
              </a:rPr>
              <a:t>Every number checked, every label true — and the impression still wrong. Here are the six mechanisms.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5029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30A8B1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CLASS 1 · SEEING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2636"/>
                </a:solidFill>
                <a:latin typeface="Aptos"/>
              </a:rPr>
              <a:t>Six ways a true chart misleads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91440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26C73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26C73"/>
                </a:solidFill>
                <a:latin typeface="Aptos"/>
              </a:rPr>
              <a:t>How the World Is Organised · Gerard Kelly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565392"/>
            <a:ext cx="3246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26C73"/>
                </a:solidFill>
                <a:latin typeface="Aptos"/>
              </a:rPr>
              <a:t>36104 Data Visualisation and Narratives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5257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6852"/>
                </a:solidFill>
                <a:latin typeface="Aptos"/>
              </a:rPr>
              <a:t>TRUNCATED AXIS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618488"/>
            <a:ext cx="324612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22636"/>
                </a:solidFill>
                <a:latin typeface="Aptos"/>
              </a:rPr>
              <a:t>A bar race that starts at 90 turns 2% into double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481328"/>
            <a:ext cx="5257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645920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6852"/>
                </a:solidFill>
                <a:latin typeface="Aptos"/>
              </a:rPr>
              <a:t>CHERRY WINDOW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1618488"/>
            <a:ext cx="324612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22636"/>
                </a:solidFill>
                <a:latin typeface="Aptos"/>
              </a:rPr>
              <a:t>The trend depends on where you start the clock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62656"/>
            <a:ext cx="5257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127248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6852"/>
                </a:solidFill>
                <a:latin typeface="Aptos"/>
              </a:rPr>
              <a:t>DUAL AXES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099816"/>
            <a:ext cx="324612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22636"/>
                </a:solidFill>
                <a:latin typeface="Aptos"/>
              </a:rPr>
              <a:t>Two scales, one plane — any story you like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962656"/>
            <a:ext cx="5257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3127248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6852"/>
                </a:solidFill>
                <a:latin typeface="Aptos"/>
              </a:rPr>
              <a:t>AREA DISTORTION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3099816"/>
            <a:ext cx="324612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22636"/>
                </a:solidFill>
                <a:latin typeface="Aptos"/>
              </a:rPr>
              <a:t>Doubling the radius quadruples the impression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443984"/>
            <a:ext cx="5257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608576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6852"/>
                </a:solidFill>
                <a:latin typeface="Aptos"/>
              </a:rPr>
              <a:t>NO DENOMINATOR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4581144"/>
            <a:ext cx="324612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22636"/>
                </a:solidFill>
                <a:latin typeface="Aptos"/>
              </a:rPr>
              <a:t>Counts rise because the population did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443984"/>
            <a:ext cx="5257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4608576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6852"/>
                </a:solidFill>
                <a:latin typeface="Aptos"/>
              </a:rPr>
              <a:t>HIDDEN SPREAD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4581144"/>
            <a:ext cx="324612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22636"/>
                </a:solidFill>
                <a:latin typeface="Aptos"/>
              </a:rPr>
              <a:t>The average is calm; the distribution is not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CLASS 1 · SEEING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2636"/>
                </a:solidFill>
                <a:latin typeface="Aptos"/>
              </a:rPr>
              <a:t>The window is part of the claim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91440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26C73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26C73"/>
                </a:solidFill>
                <a:latin typeface="Aptos"/>
              </a:rPr>
              <a:t>Mann, Bradley &amp; Hughes (1999) · reproduction generated from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565392"/>
            <a:ext cx="3246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26C73"/>
                </a:solidFill>
                <a:latin typeface="Aptos"/>
              </a:rPr>
              <a:t>36104 Data Visualisation and Narratives</a:t>
            </a:r>
          </a:p>
        </p:txBody>
      </p:sp>
      <p:pic>
        <p:nvPicPr>
          <p:cNvPr id="8" name="Picture 7" descr="fig-hockeystick-outpu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06202"/>
            <a:ext cx="7132320" cy="42228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92440" y="1664208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22636"/>
                </a:solidFill>
                <a:latin typeface="Aptos"/>
              </a:rPr>
              <a:t>The hockey stick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377440"/>
            <a:ext cx="35204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1F262B"/>
                </a:solidFill>
                <a:latin typeface="Aptos"/>
              </a:rPr>
              <a:t>A millennium of context is what makes the recent rise legible as exceptional rather than noise.
Zoom to 1990–2000 and the same data supports a different, weaker claim. Choosing the window is choosing the argument.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CLASS 1 · SEEING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2636"/>
                </a:solidFill>
                <a:latin typeface="Aptos"/>
              </a:rPr>
              <a:t>Uncertainty drawn rather than suppressed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91440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26C73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26C73"/>
                </a:solidFill>
                <a:latin typeface="Aptos"/>
              </a:rPr>
              <a:t>Bank of England style · reproduction generated from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565392"/>
            <a:ext cx="3246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26C73"/>
                </a:solidFill>
                <a:latin typeface="Aptos"/>
              </a:rPr>
              <a:t>36104 Data Visualisation and Narratives</a:t>
            </a:r>
          </a:p>
        </p:txBody>
      </p:sp>
      <p:pic>
        <p:nvPicPr>
          <p:cNvPr id="8" name="Picture 7" descr="fig-fanchart-outpu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87984"/>
            <a:ext cx="7132320" cy="44592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92440" y="1664208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22636"/>
                </a:solidFill>
                <a:latin typeface="Aptos"/>
              </a:rPr>
              <a:t>The fan chart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377440"/>
            <a:ext cx="35204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1F262B"/>
                </a:solidFill>
                <a:latin typeface="Aptos"/>
              </a:rPr>
              <a:t>A forecast that shows its own doubt: the bands widen exactly where knowledge thins.
A single confident line over the same data would be fluent — and dishonest. Ask every chart: where did the uncertainty go?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6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0A8B1"/>
                </a:solidFill>
                <a:latin typeface="Aptos"/>
              </a:rPr>
              <a:t>THINK · PAIR · SHARE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607040" cy="2926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Find a chart published this week. What claim does it make — and which of the six mechanisms should worry you?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4892040"/>
            <a:ext cx="10607040" cy="1051560"/>
          </a:xfrm>
          <a:prstGeom prst="roundRect">
            <a:avLst/>
          </a:prstGeom>
          <a:solidFill>
            <a:srgbClr val="1E394A"/>
          </a:solidFill>
          <a:ln>
            <a:solidFill>
              <a:srgbClr val="1E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138928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Aptos"/>
              </a:rPr>
              <a:t>5 minutes solo · 5 minutes in pairs · 5 minutes as a room. Keep the chart: it may become your Critique 1 artefact.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5029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30A8B1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CLASS 1 · SEEING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2636"/>
                </a:solidFill>
                <a:latin typeface="Aptos"/>
              </a:rPr>
              <a:t>Notebook: build, describe, verify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91440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26C73"/>
                </a:solidFill>
                <a:latin typeface="Aptos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26C73"/>
                </a:solidFill>
                <a:latin typeface="Aptos"/>
              </a:rPr>
              <a:t>How the World Is Organised · Gerard Kelly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565392"/>
            <a:ext cx="3246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26C73"/>
                </a:solidFill>
                <a:latin typeface="Aptos"/>
              </a:rPr>
              <a:t>36104 Data Visualisation and Narratives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424160" cy="4480560"/>
          </a:xfrm>
          <a:prstGeom prst="rect">
            <a:avLst/>
          </a:prstGeom>
          <a:noFill/>
        </p:spPr>
        <p:txBody>
          <a:bodyPr wrap="square" lIns="45720" rIns="18288">
            <a:spAutoFit/>
          </a:bodyPr>
          <a:lstStyle/>
          <a:p>
            <a:pPr>
              <a:spcAft>
                <a:spcPts val="1100"/>
              </a:spcAft>
              <a:defRPr sz="2200">
                <a:solidFill>
                  <a:srgbClr val="1F262B"/>
                </a:solidFill>
                <a:latin typeface="Aptos"/>
              </a:defRPr>
            </a:pPr>
            <a:r>
              <a:t>•  Open seeing_data_activities.ipynb in VS Code with your AI assistant on.</a:t>
            </a:r>
          </a:p>
          <a:p>
            <a:pPr>
              <a:spcAft>
                <a:spcPts val="1100"/>
              </a:spcAft>
              <a:defRPr sz="2200">
                <a:solidFill>
                  <a:srgbClr val="1F262B"/>
                </a:solidFill>
                <a:latin typeface="Aptos"/>
              </a:defRPr>
            </a:pPr>
            <a:r>
              <a:t>•  Exercise 1 — reproduce Anscombe's lesson: summary statistics, then the picture.</a:t>
            </a:r>
          </a:p>
          <a:p>
            <a:pPr>
              <a:spcAft>
                <a:spcPts val="1100"/>
              </a:spcAft>
              <a:defRPr sz="2200">
                <a:solidFill>
                  <a:srgbClr val="1F262B"/>
                </a:solidFill>
                <a:latin typeface="Aptos"/>
              </a:defRPr>
            </a:pPr>
            <a:r>
              <a:t>•  Exercise 2 — ask the assistant to chart the transport dataset, then run the checks.</a:t>
            </a:r>
          </a:p>
          <a:p>
            <a:pPr>
              <a:spcAft>
                <a:spcPts val="1100"/>
              </a:spcAft>
              <a:defRPr sz="2200">
                <a:solidFill>
                  <a:srgbClr val="1F262B"/>
                </a:solidFill>
                <a:latin typeface="Aptos"/>
              </a:defRPr>
            </a:pPr>
            <a:r>
              <a:t>•  Exercise 3 — audit a generated interpretation: supported, unsupported, or unverifiable.</a:t>
            </a:r>
          </a:p>
          <a:p>
            <a:pPr>
              <a:spcAft>
                <a:spcPts val="1100"/>
              </a:spcAft>
              <a:defRPr sz="2200">
                <a:solidFill>
                  <a:srgbClr val="1F262B"/>
                </a:solidFill>
                <a:latin typeface="Aptos"/>
              </a:defRPr>
            </a:pPr>
            <a:r>
              <a:t>•  Exercise 4 — make a true chart lie twice, then fix it (axes and windows).</a:t>
            </a:r>
          </a:p>
          <a:p>
            <a:pPr>
              <a:spcAft>
                <a:spcPts val="1100"/>
              </a:spcAft>
              <a:defRPr sz="2200">
                <a:solidFill>
                  <a:srgbClr val="1F262B"/>
                </a:solidFill>
                <a:latin typeface="Aptos"/>
              </a:defRPr>
            </a:pPr>
            <a:r>
              <a:t>•  Exercise 5 (stretch) — put honest uncertainty on the recovery chart.</a:t>
            </a:r>
          </a:p>
          <a:p>
            <a:pPr>
              <a:spcAft>
                <a:spcPts val="1100"/>
              </a:spcAft>
              <a:defRPr sz="2200">
                <a:solidFill>
                  <a:srgbClr val="1F262B"/>
                </a:solidFill>
                <a:latin typeface="Aptos"/>
              </a:defRPr>
            </a:pPr>
            <a:r>
              <a:t>•  Every exercise ends with a verification cell. Code that fails the check is a finding, not a failure.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6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0A8B1"/>
                </a:solidFill>
                <a:latin typeface="Aptos"/>
              </a:rPr>
              <a:t>BREAK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607040" cy="2926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Back in 10 minutes.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4892040"/>
            <a:ext cx="10607040" cy="1051560"/>
          </a:xfrm>
          <a:prstGeom prst="roundRect">
            <a:avLst/>
          </a:prstGeom>
          <a:solidFill>
            <a:srgbClr val="1E394A"/>
          </a:solidFill>
          <a:ln>
            <a:solidFill>
              <a:srgbClr val="1E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138928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Aptos"/>
              </a:rPr>
              <a:t>When we return: who owns the data, and Critique 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5029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30A8B1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CLASS 1 · SEEING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2636"/>
                </a:solidFill>
                <a:latin typeface="Aptos"/>
              </a:rPr>
              <a:t>Representation is also governance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91440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26C73"/>
                </a:solidFill>
                <a:latin typeface="Aptos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26C73"/>
                </a:solidFill>
                <a:latin typeface="Aptos"/>
              </a:rPr>
              <a:t>AIATSIS acknowledgement placeholder — not the copyright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565392"/>
            <a:ext cx="3246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26C73"/>
                </a:solidFill>
                <a:latin typeface="Aptos"/>
              </a:rPr>
              <a:t>36104 Data Visualisation and Narratives</a:t>
            </a:r>
          </a:p>
        </p:txBody>
      </p:sp>
      <p:pic>
        <p:nvPicPr>
          <p:cNvPr id="8" name="Picture 7" descr="fig-aiatsis-outpu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672" y="1417320"/>
            <a:ext cx="5338655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29400" y="1572768"/>
            <a:ext cx="4663440" cy="4160520"/>
          </a:xfrm>
          <a:prstGeom prst="rect">
            <a:avLst/>
          </a:prstGeom>
          <a:noFill/>
        </p:spPr>
        <p:txBody>
          <a:bodyPr wrap="square" lIns="45720" rIns="18288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1F262B"/>
                </a:solidFill>
                <a:latin typeface="Aptos"/>
              </a:defRPr>
            </a:pPr>
            <a:r>
              <a:t>•  Who is represented—and who is absent?</a:t>
            </a:r>
          </a:p>
          <a:p>
            <a:pPr>
              <a:spcAft>
                <a:spcPts val="1100"/>
              </a:spcAft>
              <a:defRPr sz="2100">
                <a:solidFill>
                  <a:srgbClr val="1F262B"/>
                </a:solidFill>
                <a:latin typeface="Aptos"/>
              </a:defRPr>
            </a:pPr>
            <a:r>
              <a:t>•  Who collected, controls and can reuse the data?</a:t>
            </a:r>
          </a:p>
          <a:p>
            <a:pPr>
              <a:spcAft>
                <a:spcPts val="1100"/>
              </a:spcAft>
              <a:defRPr sz="2100">
                <a:solidFill>
                  <a:srgbClr val="1F262B"/>
                </a:solidFill>
                <a:latin typeface="Aptos"/>
              </a:defRPr>
            </a:pPr>
            <a:r>
              <a:t>•  Who benefits from the visualisation?</a:t>
            </a:r>
          </a:p>
          <a:p>
            <a:pPr>
              <a:spcAft>
                <a:spcPts val="1100"/>
              </a:spcAft>
              <a:defRPr sz="2100">
                <a:solidFill>
                  <a:srgbClr val="1F262B"/>
                </a:solidFill>
                <a:latin typeface="Aptos"/>
              </a:defRPr>
            </a:pPr>
            <a:r>
              <a:t>•  Who could be harmed or misled?</a:t>
            </a:r>
          </a:p>
          <a:p>
            <a:pPr>
              <a:spcAft>
                <a:spcPts val="1100"/>
              </a:spcAft>
              <a:defRPr sz="2100">
                <a:solidFill>
                  <a:srgbClr val="1F262B"/>
                </a:solidFill>
                <a:latin typeface="Aptos"/>
              </a:defRPr>
            </a:pPr>
            <a:r>
              <a:t>•  What should not be visualised?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CLASS 1 · SEEING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2636"/>
                </a:solidFill>
                <a:latin typeface="Aptos"/>
              </a:rPr>
              <a:t>The small vocabulary of visual encoding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91440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26C73"/>
                </a:solidFill>
                <a:latin typeface="Aptos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26C73"/>
                </a:solidFill>
                <a:latin typeface="Aptos"/>
              </a:rPr>
              <a:t>Bertin (1967) · reproduction generated from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565392"/>
            <a:ext cx="3246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26C73"/>
                </a:solidFill>
                <a:latin typeface="Aptos"/>
              </a:rPr>
              <a:t>36104 Data Visualisation and Narratives</a:t>
            </a:r>
          </a:p>
        </p:txBody>
      </p:sp>
      <p:pic>
        <p:nvPicPr>
          <p:cNvPr id="8" name="Picture 7" descr="fig-bertin-outpu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1182"/>
            <a:ext cx="7132320" cy="47128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92440" y="1664208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22636"/>
                </a:solidFill>
                <a:latin typeface="Aptos"/>
              </a:rPr>
              <a:t>Bertin’s variables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377440"/>
            <a:ext cx="3566160" cy="3931920"/>
          </a:xfrm>
          <a:prstGeom prst="rect">
            <a:avLst/>
          </a:prstGeom>
          <a:noFill/>
        </p:spPr>
        <p:txBody>
          <a:bodyPr wrap="square" lIns="45720" rIns="18288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F262B"/>
                </a:solidFill>
                <a:latin typeface="Aptos"/>
              </a:defRPr>
            </a:pPr>
            <a:r>
              <a:t>•  Position</a:t>
            </a:r>
          </a:p>
          <a:p>
            <a:pPr>
              <a:spcAft>
                <a:spcPts val="1100"/>
              </a:spcAft>
              <a:defRPr sz="1900">
                <a:solidFill>
                  <a:srgbClr val="1F262B"/>
                </a:solidFill>
                <a:latin typeface="Aptos"/>
              </a:defRPr>
            </a:pPr>
            <a:r>
              <a:t>•  Size</a:t>
            </a:r>
          </a:p>
          <a:p>
            <a:pPr>
              <a:spcAft>
                <a:spcPts val="1100"/>
              </a:spcAft>
              <a:defRPr sz="1900">
                <a:solidFill>
                  <a:srgbClr val="1F262B"/>
                </a:solidFill>
                <a:latin typeface="Aptos"/>
              </a:defRPr>
            </a:pPr>
            <a:r>
              <a:t>•  Value</a:t>
            </a:r>
          </a:p>
          <a:p>
            <a:pPr>
              <a:spcAft>
                <a:spcPts val="1100"/>
              </a:spcAft>
              <a:defRPr sz="1900">
                <a:solidFill>
                  <a:srgbClr val="1F262B"/>
                </a:solidFill>
                <a:latin typeface="Aptos"/>
              </a:defRPr>
            </a:pPr>
            <a:r>
              <a:t>•  Texture</a:t>
            </a:r>
          </a:p>
          <a:p>
            <a:pPr>
              <a:spcAft>
                <a:spcPts val="1100"/>
              </a:spcAft>
              <a:defRPr sz="1900">
                <a:solidFill>
                  <a:srgbClr val="1F262B"/>
                </a:solidFill>
                <a:latin typeface="Aptos"/>
              </a:defRPr>
            </a:pPr>
            <a:r>
              <a:t>•  Colour</a:t>
            </a:r>
          </a:p>
          <a:p>
            <a:pPr>
              <a:spcAft>
                <a:spcPts val="1100"/>
              </a:spcAft>
              <a:defRPr sz="1900">
                <a:solidFill>
                  <a:srgbClr val="1F262B"/>
                </a:solidFill>
                <a:latin typeface="Aptos"/>
              </a:defRPr>
            </a:pPr>
            <a:r>
              <a:t>•  Orientation</a:t>
            </a:r>
          </a:p>
          <a:p>
            <a:pPr>
              <a:spcAft>
                <a:spcPts val="1100"/>
              </a:spcAft>
              <a:defRPr sz="1900">
                <a:solidFill>
                  <a:srgbClr val="1F262B"/>
                </a:solidFill>
                <a:latin typeface="Aptos"/>
              </a:defRPr>
            </a:pPr>
            <a:r>
              <a:t>•  Shape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CLASS 1 · SEEING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2636"/>
                </a:solidFill>
                <a:latin typeface="Aptos"/>
              </a:rPr>
              <a:t>Critique the claim, not just the appearance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91440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26C73"/>
                </a:solidFill>
                <a:latin typeface="Aptos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26C73"/>
                </a:solidFill>
                <a:latin typeface="Aptos"/>
              </a:rPr>
              <a:t>How the World Is Organised · Gerard Kelly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565392"/>
            <a:ext cx="3246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26C73"/>
                </a:solidFill>
                <a:latin typeface="Aptos"/>
              </a:rPr>
              <a:t>36104 Data Visualisation and Narratives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5257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6852"/>
                </a:solidFill>
                <a:latin typeface="Aptos"/>
              </a:rPr>
              <a:t>CLAIM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618488"/>
            <a:ext cx="324612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22636"/>
                </a:solidFill>
                <a:latin typeface="Aptos"/>
              </a:rPr>
              <a:t>What does the chart invite us to believe?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481328"/>
            <a:ext cx="5257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645920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6852"/>
                </a:solidFill>
                <a:latin typeface="Aptos"/>
              </a:rPr>
              <a:t>AUDIENCE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1618488"/>
            <a:ext cx="324612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22636"/>
                </a:solidFill>
                <a:latin typeface="Aptos"/>
              </a:rPr>
              <a:t>Who is expected to act on it?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62656"/>
            <a:ext cx="5257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127248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6852"/>
                </a:solidFill>
                <a:latin typeface="Aptos"/>
              </a:rPr>
              <a:t>TASK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099816"/>
            <a:ext cx="324612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22636"/>
                </a:solidFill>
                <a:latin typeface="Aptos"/>
              </a:rPr>
              <a:t>What comparison or judgement must they make?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962656"/>
            <a:ext cx="5257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3127248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6852"/>
                </a:solidFill>
                <a:latin typeface="Aptos"/>
              </a:rPr>
              <a:t>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3099816"/>
            <a:ext cx="324612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22636"/>
                </a:solidFill>
                <a:latin typeface="Aptos"/>
              </a:rPr>
              <a:t>What supports—or fails to support—the claim?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443984"/>
            <a:ext cx="5257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608576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6852"/>
                </a:solidFill>
                <a:latin typeface="Aptos"/>
              </a:rPr>
              <a:t>OMISSIONS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4581144"/>
            <a:ext cx="324612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22636"/>
                </a:solidFill>
                <a:latin typeface="Aptos"/>
              </a:rPr>
              <a:t>What is missing, compressed or hidden?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443984"/>
            <a:ext cx="5257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4608576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6852"/>
                </a:solidFill>
                <a:latin typeface="Aptos"/>
              </a:rPr>
              <a:t>RESPONSIBILITY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4581144"/>
            <a:ext cx="324612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22636"/>
                </a:solidFill>
                <a:latin typeface="Aptos"/>
              </a:rPr>
              <a:t>Who benefits, and who carries the risk?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6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0A8B1"/>
                </a:solidFill>
                <a:latin typeface="Aptos"/>
              </a:rPr>
              <a:t>STUDIO · 45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772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Critique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6070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Aptos"/>
              </a:rPr>
              <a:t>Compare one human-made chart with one AI-generated interpretation.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063240"/>
            <a:ext cx="2423160" cy="2011680"/>
          </a:xfrm>
          <a:prstGeom prst="roundRect">
            <a:avLst/>
          </a:prstGeom>
          <a:solidFill>
            <a:srgbClr val="1E394A"/>
          </a:solidFill>
          <a:ln>
            <a:solidFill>
              <a:srgbClr val="1E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331012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0A8B1"/>
                </a:solidFill>
                <a:latin typeface="Aptos"/>
              </a:rPr>
              <a:t>10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685032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160520"/>
            <a:ext cx="201167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Write the claim in one sentence.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3063240"/>
            <a:ext cx="2423160" cy="2011680"/>
          </a:xfrm>
          <a:prstGeom prst="roundRect">
            <a:avLst/>
          </a:prstGeom>
          <a:solidFill>
            <a:srgbClr val="1E394A"/>
          </a:solidFill>
          <a:ln>
            <a:solidFill>
              <a:srgbClr val="1E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331012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0A8B1"/>
                </a:solidFill>
                <a:latin typeface="Aptos"/>
              </a:rPr>
              <a:t>15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168" y="3685032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Interrogate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4160520"/>
            <a:ext cx="201167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Check audience, task, evidence and omissions.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063240"/>
            <a:ext cx="2423160" cy="2011680"/>
          </a:xfrm>
          <a:prstGeom prst="roundRect">
            <a:avLst/>
          </a:prstGeom>
          <a:solidFill>
            <a:srgbClr val="1E394A"/>
          </a:solidFill>
          <a:ln>
            <a:solidFill>
              <a:srgbClr val="1E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331012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0A8B1"/>
                </a:solidFill>
                <a:latin typeface="Aptos"/>
              </a:rPr>
              <a:t>10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685032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Verify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4160520"/>
            <a:ext cx="201167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Test one claim against the data or source.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39" y="3063240"/>
            <a:ext cx="2423160" cy="2011680"/>
          </a:xfrm>
          <a:prstGeom prst="roundRect">
            <a:avLst/>
          </a:prstGeom>
          <a:solidFill>
            <a:srgbClr val="1E394A"/>
          </a:solidFill>
          <a:ln>
            <a:solidFill>
              <a:srgbClr val="1E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08007" y="331012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0A8B1"/>
                </a:solidFill>
                <a:latin typeface="Aptos"/>
              </a:rPr>
              <a:t>10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8007" y="3685032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Share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8007" y="4160520"/>
            <a:ext cx="201167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Name one repair and one limitation.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CLASS 1 · SEEING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2636"/>
                </a:solidFill>
                <a:latin typeface="Aptos"/>
              </a:rPr>
              <a:t>Today’s three-hour rhythm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91440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26C73"/>
                </a:solidFill>
                <a:latin typeface="Aptos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26C73"/>
                </a:solidFill>
                <a:latin typeface="Aptos"/>
              </a:rPr>
              <a:t>How the World Is Organised · Gerard Kelly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565392"/>
            <a:ext cx="3246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26C73"/>
                </a:solidFill>
                <a:latin typeface="Aptos"/>
              </a:rPr>
              <a:t>36104 Data Visualisation and Narratives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33832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3383280" cy="502920"/>
          </a:xfrm>
          <a:prstGeom prst="round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231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66852"/>
                </a:solidFill>
                <a:latin typeface="Aptos"/>
              </a:rPr>
              <a:t>HOUR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2880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22636"/>
                </a:solidFill>
                <a:latin typeface="Aptos"/>
              </a:rPr>
              <a:t>Charts make claims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86200"/>
            <a:ext cx="2788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626C73"/>
                </a:solidFill>
                <a:latin typeface="Aptos"/>
              </a:rPr>
              <a:t>Anscombe · Snow · six mechanisms · ladder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1645920"/>
            <a:ext cx="33832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62272" y="1645920"/>
            <a:ext cx="3383280" cy="502920"/>
          </a:xfrm>
          <a:prstGeom prst="roundRect">
            <a:avLst/>
          </a:prstGeom>
          <a:solidFill>
            <a:srgbClr val="18678F"/>
          </a:solidFill>
          <a:ln>
            <a:solidFill>
              <a:srgbClr val="1867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24231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678F"/>
                </a:solidFill>
                <a:latin typeface="Aptos"/>
              </a:rPr>
              <a:t>HOUR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2834640"/>
            <a:ext cx="2880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22636"/>
                </a:solidFill>
                <a:latin typeface="Aptos"/>
              </a:rPr>
              <a:t>Build and verify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3886200"/>
            <a:ext cx="2788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626C73"/>
                </a:solidFill>
                <a:latin typeface="Aptos"/>
              </a:rPr>
              <a:t>Notebook: chart, check, lie, repair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84463" y="1645920"/>
            <a:ext cx="33832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84463" y="1645920"/>
            <a:ext cx="3383280" cy="502920"/>
          </a:xfrm>
          <a:prstGeom prst="roundRect">
            <a:avLst/>
          </a:prstGeom>
          <a:solidFill>
            <a:srgbClr val="30A8B1"/>
          </a:solidFill>
          <a:ln>
            <a:solidFill>
              <a:srgbClr val="30A8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3" y="24231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30A8B1"/>
                </a:solidFill>
                <a:latin typeface="Aptos"/>
              </a:rPr>
              <a:t>HOUR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3" y="2834640"/>
            <a:ext cx="2880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22636"/>
                </a:solidFill>
                <a:latin typeface="Aptos"/>
              </a:rPr>
              <a:t>Critique and responsibility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13063" y="3886200"/>
            <a:ext cx="2788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626C73"/>
                </a:solidFill>
                <a:latin typeface="Aptos"/>
              </a:rPr>
              <a:t>AIATSIS · Critique 1 studio · quiz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6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0A8B1"/>
                </a:solidFill>
                <a:latin typeface="Aptos"/>
              </a:rPr>
              <a:t>DIAGNOSTIC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607040" cy="2926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15 minutes. Open book, closed assistant.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4892040"/>
            <a:ext cx="10607040" cy="1051560"/>
          </a:xfrm>
          <a:prstGeom prst="roundRect">
            <a:avLst/>
          </a:prstGeom>
          <a:solidFill>
            <a:srgbClr val="1E394A"/>
          </a:solidFill>
          <a:ln>
            <a:solidFill>
              <a:srgbClr val="1E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138928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Aptos"/>
              </a:rPr>
              <a:t>Today's vocabulary: encoding, claim, omission, verification ladder, governance. The quiz calibrates the course to you — it is diagnostic, not punitive.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5029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30A8B1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6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0A8B1"/>
                </a:solidFill>
                <a:latin typeface="Aptos"/>
              </a:rPr>
              <a:t>EXIT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607040" cy="2926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Could this visualisation lead someone to believe something the data does not support?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4892040"/>
            <a:ext cx="10607040" cy="1051560"/>
          </a:xfrm>
          <a:prstGeom prst="roundRect">
            <a:avLst/>
          </a:prstGeom>
          <a:solidFill>
            <a:srgbClr val="1E394A"/>
          </a:solidFill>
          <a:ln>
            <a:solidFill>
              <a:srgbClr val="1E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138928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Aptos"/>
              </a:rPr>
              <a:t>Exit ticket: one design decision you made, one risk you noticed, one thing to verify before next class.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5029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30A8B1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Seeing Data</dc:title>
  <dc:subject>36104 Data Visualisation and Narratives</dc:subject>
  <dc:creator>Gerard Kelly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