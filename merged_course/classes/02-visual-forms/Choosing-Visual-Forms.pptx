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urse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0B7E0"/>
                </a:solidFill>
                <a:latin typeface="Aptos"/>
              </a:rPr>
              <a:t>36104 · DATA VISUALISATION AND NARRATIVES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Aptos"/>
              </a:rPr>
              <a:t>Choosing Visual 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59152"/>
            <a:ext cx="87782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FFFFFF"/>
                </a:solidFill>
                <a:latin typeface="Aptos"/>
              </a:rPr>
              <a:t>Encoding, tidy data,
and the Visual Vocabulary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6636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B7E0"/>
                </a:solidFill>
                <a:latin typeface="Aptos"/>
              </a:rPr>
              <a:t>What visual task are we performing?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89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Data Visualisation and Narratives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B7E0"/>
                </a:solidFill>
                <a:latin typeface="Aptos"/>
              </a:rPr>
              <a:t>THE PREMISE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607040" cy="2926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Good chart choice begins with the analytical task, not with the visual effect.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4892040"/>
            <a:ext cx="10607040" cy="1051560"/>
          </a:xfrm>
          <a:prstGeom prst="roundRect">
            <a:avLst/>
          </a:prstGeom>
          <a:solidFill>
            <a:srgbClr val="0B38B9"/>
          </a:solidFill>
          <a:ln>
            <a:solidFill>
              <a:srgbClr val="0B38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13892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Aptos"/>
              </a:rPr>
              <a:t>Opening question: before you pick a chart, what comparison must the reader actually make?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5029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0B7E0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By the end of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How the World Is Organised · Gerard Kelly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424160" cy="4297680"/>
          </a:xfrm>
          <a:prstGeom prst="rect">
            <a:avLst/>
          </a:prstGeom>
          <a:noFill/>
        </p:spPr>
        <p:txBody>
          <a:bodyPr wrap="square" lIns="45720" rIns="18288">
            <a:spAutoFit/>
          </a:bodyPr>
          <a:lstStyle/>
          <a:p>
            <a:pPr>
              <a:spcAft>
                <a:spcPts val="1100"/>
              </a:spcAft>
              <a:defRPr sz="2500">
                <a:solidFill>
                  <a:srgbClr val="0A0A0A"/>
                </a:solidFill>
                <a:latin typeface="Aptos"/>
              </a:defRPr>
            </a:pPr>
            <a:r>
              <a:t>•  Rank visual channels by the precision with which people read them.</a:t>
            </a:r>
          </a:p>
          <a:p>
            <a:pPr>
              <a:spcAft>
                <a:spcPts val="1100"/>
              </a:spcAft>
              <a:defRPr sz="2500">
                <a:solidFill>
                  <a:srgbClr val="0A0A0A"/>
                </a:solidFill>
                <a:latin typeface="Aptos"/>
              </a:defRPr>
            </a:pPr>
            <a:r>
              <a:t>•  Classify an analytical question into an FT Visual Vocabulary category.</a:t>
            </a:r>
          </a:p>
          <a:p>
            <a:pPr>
              <a:spcAft>
                <a:spcPts val="1100"/>
              </a:spcAft>
              <a:defRPr sz="2500">
                <a:solidFill>
                  <a:srgbClr val="0A0A0A"/>
                </a:solidFill>
                <a:latin typeface="Aptos"/>
              </a:defRPr>
            </a:pPr>
            <a:r>
              <a:t>•  Map a visual task to candidate chart forms, and name what each could mislead.</a:t>
            </a:r>
          </a:p>
          <a:p>
            <a:pPr>
              <a:spcAft>
                <a:spcPts val="1100"/>
              </a:spcAft>
              <a:defRPr sz="2500">
                <a:solidFill>
                  <a:srgbClr val="0A0A0A"/>
                </a:solidFill>
                <a:latin typeface="Aptos"/>
              </a:defRPr>
            </a:pPr>
            <a:r>
              <a:t>•  Reshape wide data to tidy long form, by hand and with an AI assistant.</a:t>
            </a:r>
          </a:p>
          <a:p>
            <a:pPr>
              <a:spcAft>
                <a:spcPts val="1100"/>
              </a:spcAft>
              <a:defRPr sz="2500">
                <a:solidFill>
                  <a:srgbClr val="0A0A0A"/>
                </a:solidFill>
                <a:latin typeface="Aptos"/>
              </a:defRPr>
            </a:pPr>
            <a:r>
              <a:t>•  Verify AI-wrangled data: identifiers, row counts, types, missing values.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The small vocabulary of visual encoding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Bertin (1967) · reproduction generated from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pic>
        <p:nvPicPr>
          <p:cNvPr id="8" name="Picture 7" descr="fig-bertin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1182"/>
            <a:ext cx="7132320" cy="471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92440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0A0A"/>
                </a:solidFill>
                <a:latin typeface="Aptos"/>
              </a:rPr>
              <a:t>Bertin’s variables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377440"/>
            <a:ext cx="3566160" cy="3931920"/>
          </a:xfrm>
          <a:prstGeom prst="rect">
            <a:avLst/>
          </a:prstGeom>
          <a:noFill/>
        </p:spPr>
        <p:txBody>
          <a:bodyPr wrap="square" lIns="45720" rIns="18288">
            <a:spAutoFit/>
          </a:bodyPr>
          <a:lstStyle/>
          <a:p>
            <a:pPr>
              <a:spcAft>
                <a:spcPts val="1100"/>
              </a:spcAft>
              <a:defRPr sz="1900">
                <a:solidFill>
                  <a:srgbClr val="0A0A0A"/>
                </a:solidFill>
                <a:latin typeface="Aptos"/>
              </a:defRPr>
            </a:pPr>
            <a:r>
              <a:t>•  Position</a:t>
            </a:r>
          </a:p>
          <a:p>
            <a:pPr>
              <a:spcAft>
                <a:spcPts val="1100"/>
              </a:spcAft>
              <a:defRPr sz="1900">
                <a:solidFill>
                  <a:srgbClr val="0A0A0A"/>
                </a:solidFill>
                <a:latin typeface="Aptos"/>
              </a:defRPr>
            </a:pPr>
            <a:r>
              <a:t>•  Size</a:t>
            </a:r>
          </a:p>
          <a:p>
            <a:pPr>
              <a:spcAft>
                <a:spcPts val="1100"/>
              </a:spcAft>
              <a:defRPr sz="1900">
                <a:solidFill>
                  <a:srgbClr val="0A0A0A"/>
                </a:solidFill>
                <a:latin typeface="Aptos"/>
              </a:defRPr>
            </a:pPr>
            <a:r>
              <a:t>•  Value</a:t>
            </a:r>
          </a:p>
          <a:p>
            <a:pPr>
              <a:spcAft>
                <a:spcPts val="1100"/>
              </a:spcAft>
              <a:defRPr sz="1900">
                <a:solidFill>
                  <a:srgbClr val="0A0A0A"/>
                </a:solidFill>
                <a:latin typeface="Aptos"/>
              </a:defRPr>
            </a:pPr>
            <a:r>
              <a:t>•  Texture</a:t>
            </a:r>
          </a:p>
          <a:p>
            <a:pPr>
              <a:spcAft>
                <a:spcPts val="1100"/>
              </a:spcAft>
              <a:defRPr sz="1900">
                <a:solidFill>
                  <a:srgbClr val="0A0A0A"/>
                </a:solidFill>
                <a:latin typeface="Aptos"/>
              </a:defRPr>
            </a:pPr>
            <a:r>
              <a:t>•  Colour</a:t>
            </a:r>
          </a:p>
          <a:p>
            <a:pPr>
              <a:spcAft>
                <a:spcPts val="1100"/>
              </a:spcAft>
              <a:defRPr sz="1900">
                <a:solidFill>
                  <a:srgbClr val="0A0A0A"/>
                </a:solidFill>
                <a:latin typeface="Aptos"/>
              </a:defRPr>
            </a:pPr>
            <a:r>
              <a:t>•  Orientation</a:t>
            </a:r>
          </a:p>
          <a:p>
            <a:pPr>
              <a:spcAft>
                <a:spcPts val="1100"/>
              </a:spcAft>
              <a:defRPr sz="1900">
                <a:solidFill>
                  <a:srgbClr val="0A0A0A"/>
                </a:solidFill>
                <a:latin typeface="Aptos"/>
              </a:defRPr>
            </a:pPr>
            <a:r>
              <a:t>•  Shape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Channels are read at different precision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After Cleveland &amp; McGill (1984)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44752"/>
            <a:ext cx="457200" cy="457200"/>
          </a:xfrm>
          <a:prstGeom prst="round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53896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42646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A0A0A"/>
                </a:solidFill>
                <a:latin typeface="Aptos"/>
              </a:rPr>
              <a:t>Position on a common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426464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A5F63"/>
                </a:solidFill>
                <a:latin typeface="Aptos"/>
              </a:rPr>
              <a:t>the workhorse, dot plots, scatterplots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103120"/>
            <a:ext cx="457200" cy="457200"/>
          </a:xfrm>
          <a:prstGeom prst="round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112264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084832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A0A0A"/>
                </a:solidFill>
                <a:latin typeface="Aptos"/>
              </a:rPr>
              <a:t>Position on unaligned scales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08483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A5F63"/>
                </a:solidFill>
                <a:latin typeface="Aptos"/>
              </a:rPr>
              <a:t>small multiples pay a small tax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761488"/>
            <a:ext cx="457200" cy="457200"/>
          </a:xfrm>
          <a:prstGeom prst="round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770632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7432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A0A0A"/>
                </a:solidFill>
                <a:latin typeface="Aptos"/>
              </a:rPr>
              <a:t>Length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7432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A5F63"/>
                </a:solidFill>
                <a:latin typeface="Aptos"/>
              </a:rPr>
              <a:t>bars, but only from a zero baseline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419856"/>
            <a:ext cx="457200" cy="457200"/>
          </a:xfrm>
          <a:prstGeom prst="round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429000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3401568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A0A0A"/>
                </a:solidFill>
                <a:latin typeface="Aptos"/>
              </a:rPr>
              <a:t>Angle · slope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401568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A5F63"/>
                </a:solidFill>
                <a:latin typeface="Aptos"/>
              </a:rPr>
              <a:t>pie charts and line slopes blur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078224"/>
            <a:ext cx="457200" cy="457200"/>
          </a:xfrm>
          <a:prstGeom prst="round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087368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4059936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A0A0A"/>
                </a:solidFill>
                <a:latin typeface="Aptos"/>
              </a:rPr>
              <a:t>Area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059936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A5F63"/>
                </a:solidFill>
                <a:latin typeface="Aptos"/>
              </a:rPr>
              <a:t>bubbles compress differences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736592"/>
            <a:ext cx="457200" cy="457200"/>
          </a:xfrm>
          <a:prstGeom prst="round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745736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71830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A0A0A"/>
                </a:solidFill>
                <a:latin typeface="Aptos"/>
              </a:rPr>
              <a:t>Colour value · saturation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718304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A5F63"/>
                </a:solidFill>
                <a:latin typeface="Aptos"/>
              </a:rPr>
              <a:t>ordered, but coarse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394960"/>
            <a:ext cx="457200" cy="457200"/>
          </a:xfrm>
          <a:prstGeom prst="round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404104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81328" y="5376672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A0A0A"/>
                </a:solidFill>
                <a:latin typeface="Aptos"/>
              </a:rPr>
              <a:t>Colour hue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537667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A5F63"/>
                </a:solidFill>
                <a:latin typeface="Aptos"/>
              </a:rPr>
              <a:t>categories only, never magnitude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When the channel fights the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Mohs (1825) · reproduction generated from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pic>
        <p:nvPicPr>
          <p:cNvPr id="8" name="Picture 7" descr="fig-mohs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6944"/>
            <a:ext cx="7132320" cy="4241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92440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0A0A"/>
                </a:solidFill>
                <a:latin typeface="Aptos"/>
              </a:rPr>
              <a:t>Rank ≠ magnitude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377440"/>
            <a:ext cx="35204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ptos"/>
              </a:rPr>
              <a:t>Mohs hardness is an ordinal ladder. Encoded as evenly spaced bars it looks linear, but real hardness explodes near the top.
The channel you choose asserts a scale. Choose one the data can honour.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B7E0"/>
                </a:solidFill>
                <a:latin typeface="Aptos"/>
              </a:rPr>
              <a:t>THE CHANNEL SPRINT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607040" cy="2926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Twelve charts · 40 seconds each. Name the channel doing the work.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4892040"/>
            <a:ext cx="10607040" cy="1051560"/>
          </a:xfrm>
          <a:prstGeom prst="roundRect">
            <a:avLst/>
          </a:prstGeom>
          <a:solidFill>
            <a:srgbClr val="0B38B9"/>
          </a:solidFill>
          <a:ln>
            <a:solidFill>
              <a:srgbClr val="0B38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13892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Aptos"/>
              </a:rPr>
              <a:t>Position, length, angle, area, colour value, colour hue, one dominates each chart. Write your call; we debrief three.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5029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0B7E0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A0A"/>
                </a:solidFill>
                <a:latin typeface="Aptos"/>
              </a:rPr>
              <a:t>The colour wheel</a:t>
            </a:r>
          </a:p>
        </p:txBody>
      </p:sp>
      <p:pic>
        <p:nvPicPr>
          <p:cNvPr id="3" name="Picture 2" descr="fig-colourwheel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823" y="868680"/>
            <a:ext cx="5215873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A0A"/>
                </a:solidFill>
                <a:latin typeface="Aptos"/>
              </a:rPr>
              <a:t>The cosmic microwave background</a:t>
            </a:r>
          </a:p>
        </p:txBody>
      </p:sp>
      <p:pic>
        <p:nvPicPr>
          <p:cNvPr id="3" name="Picture 2" descr="fig-cmb-map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128" y="868680"/>
            <a:ext cx="8885263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A0A"/>
                </a:solidFill>
                <a:latin typeface="Aptos"/>
              </a:rPr>
              <a:t>The ozone hole</a:t>
            </a:r>
          </a:p>
        </p:txBody>
      </p:sp>
      <p:pic>
        <p:nvPicPr>
          <p:cNvPr id="3" name="Picture 2" descr="fig-ozone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7118" y="868680"/>
            <a:ext cx="660728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A0A"/>
                </a:solidFill>
                <a:latin typeface="Aptos"/>
              </a:rPr>
              <a:t>A molecule in 3D</a:t>
            </a:r>
          </a:p>
        </p:txBody>
      </p:sp>
      <p:pic>
        <p:nvPicPr>
          <p:cNvPr id="3" name="Picture 2" descr="fig-molecule3d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517" y="868680"/>
            <a:ext cx="5340485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A0A"/>
                </a:solidFill>
                <a:latin typeface="Aptos"/>
              </a:rPr>
              <a:t>The DNA double helix</a:t>
            </a:r>
          </a:p>
        </p:txBody>
      </p:sp>
      <p:pic>
        <p:nvPicPr>
          <p:cNvPr id="3" name="Picture 2" descr="fig-dna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517" y="868680"/>
            <a:ext cx="5340485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A0A"/>
                </a:solidFill>
                <a:latin typeface="Aptos"/>
              </a:rPr>
              <a:t>A protein ribbon</a:t>
            </a:r>
          </a:p>
        </p:txBody>
      </p:sp>
      <p:pic>
        <p:nvPicPr>
          <p:cNvPr id="3" name="Picture 2" descr="fig-ribbon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517" y="868680"/>
            <a:ext cx="5340485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A0A"/>
                </a:solidFill>
                <a:latin typeface="Aptos"/>
              </a:rPr>
              <a:t>Atomic orbitals</a:t>
            </a:r>
          </a:p>
        </p:txBody>
      </p:sp>
      <p:pic>
        <p:nvPicPr>
          <p:cNvPr id="3" name="Picture 2" descr="fig-orbitals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501" y="868680"/>
            <a:ext cx="6616518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A0A"/>
                </a:solidFill>
                <a:latin typeface="Aptos"/>
              </a:rPr>
              <a:t>The cosmic web</a:t>
            </a:r>
          </a:p>
        </p:txBody>
      </p:sp>
      <p:pic>
        <p:nvPicPr>
          <p:cNvPr id="3" name="Picture 2" descr="fig-cosmicweb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381" y="868680"/>
            <a:ext cx="5834758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A0A"/>
                </a:solidFill>
                <a:latin typeface="Aptos"/>
              </a:rPr>
              <a:t>The map projection problem</a:t>
            </a:r>
          </a:p>
        </p:txBody>
      </p:sp>
      <p:pic>
        <p:nvPicPr>
          <p:cNvPr id="3" name="Picture 2" descr="fig-projection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60628"/>
            <a:ext cx="10515600" cy="49939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A0A"/>
                </a:solidFill>
                <a:latin typeface="Aptos"/>
              </a:rPr>
              <a:t>The periodic table</a:t>
            </a:r>
          </a:p>
        </p:txBody>
      </p:sp>
      <p:pic>
        <p:nvPicPr>
          <p:cNvPr id="3" name="Picture 2" descr="fig-periodic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649" y="868680"/>
            <a:ext cx="9662221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A0A"/>
                </a:solidFill>
                <a:latin typeface="Aptos"/>
              </a:rPr>
              <a:t>The genetic code wheel</a:t>
            </a:r>
          </a:p>
        </p:txBody>
      </p:sp>
      <p:pic>
        <p:nvPicPr>
          <p:cNvPr id="3" name="Picture 2" descr="fig-codonwheel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1019" y="868680"/>
            <a:ext cx="4959482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A0A"/>
                </a:solidFill>
                <a:latin typeface="Aptos"/>
              </a:rPr>
              <a:t>The Wallace line</a:t>
            </a:r>
          </a:p>
        </p:txBody>
      </p:sp>
      <p:pic>
        <p:nvPicPr>
          <p:cNvPr id="3" name="Picture 2" descr="fig-wallace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793" y="868680"/>
            <a:ext cx="989393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B7E0"/>
                </a:solidFill>
                <a:latin typeface="Aptos"/>
              </a:rPr>
              <a:t>THE SHARED LANGUAGE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607040" cy="2926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Nine families of visual task. Every chart in this course belongs to one.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4892040"/>
            <a:ext cx="10607040" cy="1051560"/>
          </a:xfrm>
          <a:prstGeom prst="roundRect">
            <a:avLst/>
          </a:prstGeom>
          <a:solidFill>
            <a:srgbClr val="0B38B9"/>
          </a:solidFill>
          <a:ln>
            <a:solidFill>
              <a:srgbClr val="0B38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13892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Aptos"/>
              </a:rPr>
              <a:t>Deviation · Correlation · Ranking · Distribution · Change over time · Magnitude · Part-to-whole · Spatial ·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5029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0B7E0"/>
                </a:solidFill>
                <a:latin typeface="Apto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The FT Visual Vocabulary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How the World Is Organised · Gerard Kelly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525780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DEVIATION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618488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Values differ from a baseline or target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481328"/>
            <a:ext cx="525780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64592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CORRELATION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618488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Variables move together or apart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377440"/>
            <a:ext cx="525780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542032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5146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Ordering items by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377440"/>
            <a:ext cx="525780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542032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DISTRIBUTION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5146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Spread, range, clusters, outliers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273552"/>
            <a:ext cx="525780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438144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CHANGE OVER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410712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Temporal pattern and trend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273552"/>
            <a:ext cx="525780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38144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MAGNITUDE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3410712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Comparing sizes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169664"/>
            <a:ext cx="525780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334256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PART-TO-WHOLE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306824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Composition of a total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4169664"/>
            <a:ext cx="525780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4334256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SPATIAL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4306824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Location and geography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065776"/>
            <a:ext cx="525780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0368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FLOW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5202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Movement, transfer, connection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Distribution: show the spread, not the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Tukey (1977) · reproduction generated from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pic>
        <p:nvPicPr>
          <p:cNvPr id="8" name="Picture 7" descr="fig-boxplot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09916"/>
            <a:ext cx="7132320" cy="4215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92440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0A0A"/>
                </a:solidFill>
                <a:latin typeface="Aptos"/>
              </a:rPr>
              <a:t>The box plot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377440"/>
            <a:ext cx="35204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ptos"/>
              </a:rPr>
              <a:t>Median, quartiles, whiskers, outliers, five numbers standing in for the whole spread.
Alternatives: histogram, dot plot, violin, density. Each reveals what the box compresses.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Change over time: the line over time is an argument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Keeling (1960– ) · reproduction generated from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pic>
        <p:nvPicPr>
          <p:cNvPr id="8" name="Picture 7" descr="fig-keeling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04340"/>
            <a:ext cx="7132320" cy="4226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92440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0A0A"/>
                </a:solidFill>
                <a:latin typeface="Aptos"/>
              </a:rPr>
              <a:t>The Keeling curve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377440"/>
            <a:ext cx="35204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ptos"/>
              </a:rPr>
              <a:t>A rising saw-tooth: seasonal breathing on a relentless trend.
The aspect ratio, the baseline and the window all change what the reader concludes.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Correlation: two variables, one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Hertzsprung &amp; Russell (1910s) · reproduction generated from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pic>
        <p:nvPicPr>
          <p:cNvPr id="8" name="Picture 7" descr="fig-hr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3317"/>
            <a:ext cx="7132320" cy="448860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92440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0A0A"/>
                </a:solidFill>
                <a:latin typeface="Aptos"/>
              </a:rPr>
              <a:t>Hertzsprung–Russell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377440"/>
            <a:ext cx="35204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ptos"/>
              </a:rPr>
              <a:t>A scatterplot of star brightness against temperature revealed the structure of stellar evolution.
Position on both axes, the highest-precision channels doing the work.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The original: Minard, 1869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Charles Joseph Minard, Carte figurative des pertes successives en hommes de l’Armée Française dans la campagne de Russie 1812–1813 (1869). Public domain.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pic>
        <p:nvPicPr>
          <p:cNvPr id="8" name="Picture 7" descr="minard-18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75" y="1371600"/>
            <a:ext cx="10356369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Spatial and flow: movement carries the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Minard (1869) · reproduction generated from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pic>
        <p:nvPicPr>
          <p:cNvPr id="8" name="Picture 7" descr="fig-minard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158" y="1417320"/>
            <a:ext cx="6932164" cy="4800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92440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0A0A"/>
                </a:solidFill>
                <a:latin typeface="Aptos"/>
              </a:rPr>
              <a:t>Minard’s march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377440"/>
            <a:ext cx="35204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ptos"/>
              </a:rPr>
              <a:t>Position, band width, colour and temperature in one plane, a flow map carrying an argument about catastrophe.
Spatial and flow forms are powerful and expensive: use them when location or movement is the task.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Colour is an encoding, not a decoration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Hawkins (2018) · reproduction generated from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pic>
        <p:nvPicPr>
          <p:cNvPr id="8" name="Picture 7" descr="fig-climatestripes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00606"/>
            <a:ext cx="7132320" cy="42340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92440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0A0A"/>
                </a:solidFill>
                <a:latin typeface="Aptos"/>
              </a:rPr>
              <a:t>Climate stripes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377440"/>
            <a:ext cx="35204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ptos"/>
              </a:rPr>
              <a:t>One channel, colour, encoding one variable, ordered and diverging around a baseline.
Colour rules: sequential for ordered data, diverging around a meaningful midpoint, categorical hues only for categories. Check colour-blind safety.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Colour rules, in six cards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How the World Is Organised · Gerard Kelly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525780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SEQUENTIAL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618488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Ordered data: light → dark, one hue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481328"/>
            <a:ext cx="525780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64592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DIVERGING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618488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Two directions around a meaningful midpoint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62656"/>
            <a:ext cx="525780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27248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CATEGORICAL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099816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Distinct hues for categories, never magnitude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962656"/>
            <a:ext cx="525780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127248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COLOUR-BLIND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3099816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≈8% of men can't split red/green, check every palette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443984"/>
            <a:ext cx="525780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08576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RAINBOW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581144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Jet invents boundaries that aren't in the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443984"/>
            <a:ext cx="525780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608576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GREY IS A COLOUR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4581144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Mute the context, spend hue on the point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Ranking meets the scale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Zipf (1949) · reproduction generated from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pic>
        <p:nvPicPr>
          <p:cNvPr id="8" name="Picture 7" descr="fig-zipf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03171"/>
            <a:ext cx="7132320" cy="42288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92440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0A0A"/>
                </a:solidFill>
                <a:latin typeface="Aptos"/>
              </a:rPr>
              <a:t>Zipf’s law of cities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377440"/>
            <a:ext cx="35204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ptos"/>
              </a:rPr>
              <a:t>Rank cities by size and plot on log–log: a straight line appears, structure the linear view hides completely.
The task (ranking) chose the form; the data chose the scale.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The original: the Statistical Atlas, 1874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Chart showing the distribution by age and sex of deaths, Statistical Atlas of the United States, Francis A. Walker (1874). Public domain.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pic>
        <p:nvPicPr>
          <p:cNvPr id="8" name="Picture 7" descr="statistical-atlas-1874-pyram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083" y="1371600"/>
            <a:ext cx="3973353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Distribution split by category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Walker (1874) · reproduction generated from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pic>
        <p:nvPicPr>
          <p:cNvPr id="8" name="Picture 7" descr="fig-population-pyramid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4378"/>
            <a:ext cx="7132320" cy="424648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92440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0A0A"/>
                </a:solidFill>
                <a:latin typeface="Aptos"/>
              </a:rPr>
              <a:t>The population pyramid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377440"/>
            <a:ext cx="35204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ptos"/>
              </a:rPr>
              <a:t>Back-to-back bars: one distribution per group, mirrored so the shape of a whole population reads at a glance.
Youthful and broad, or ageing and top-heavy, the silhouette is the finding.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Flow: where the quantity goes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Sankey (1898) · reproduction generated from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pic>
        <p:nvPicPr>
          <p:cNvPr id="8" name="Picture 7" descr="fig-sankey-output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31299"/>
            <a:ext cx="7132320" cy="437264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92440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0A0A"/>
                </a:solidFill>
                <a:latin typeface="Aptos"/>
              </a:rPr>
              <a:t>The Sankey diagram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377440"/>
            <a:ext cx="35204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ptos"/>
              </a:rPr>
              <a:t>Band width is the quantity; the branching shows where it goes. Energy in, useful work and losses out.
Use flow forms when the reader's task is tracing movement, not just comparing totals.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Spatial: the map is the task, and the trap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Reproduction generated from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pic>
        <p:nvPicPr>
          <p:cNvPr id="8" name="Picture 7" descr="fig-choropleth-outp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2559"/>
            <a:ext cx="7132320" cy="379012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92440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0A0A"/>
                </a:solidFill>
                <a:latin typeface="Aptos"/>
              </a:rPr>
              <a:t>Choropleth vs cartogram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377440"/>
            <a:ext cx="35204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ptos"/>
              </a:rPr>
              <a:t>Colour by area and big empty regions dominate; size by population and geography distorts. Every map trades truth for truth.
Ask: is location genuinely the task, or is a sorted bar chart the honest answer?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Baselines, aspect, and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How the World Is Organised · Gerard Kelly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525780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ZERO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618488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Bars encode length, they must start at zero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481328"/>
            <a:ext cx="525780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64592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LINES MAY ZOOM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618488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Position encodings can crop, say so on the axis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62656"/>
            <a:ext cx="525780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27248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ASPECT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099816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Bank slopes toward 45° to keep change readable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962656"/>
            <a:ext cx="525780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127248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SORT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3099816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Alphabetical is a decision too, usually the wrong 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443984"/>
            <a:ext cx="525780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08576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DUAL AXES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581144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Two scales invite any story, small multiples instead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443984"/>
            <a:ext cx="525780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608576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2305"/>
                </a:solidFill>
                <a:latin typeface="Aptos"/>
              </a:rPr>
              <a:t>ANNOTATE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4581144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ptos"/>
              </a:rPr>
              <a:t>Title the finding; label the point that carries it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B7E0"/>
                </a:solidFill>
                <a:latin typeface="Aptos"/>
              </a:rPr>
              <a:t>THINK · PAIR · SHARE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607040" cy="2926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Sketch: monthly ridership for six regions, 2019–2025. Which form, and which channel does the work?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4892040"/>
            <a:ext cx="10607040" cy="1051560"/>
          </a:xfrm>
          <a:prstGeom prst="roundRect">
            <a:avLst/>
          </a:prstGeom>
          <a:solidFill>
            <a:srgbClr val="0B38B9"/>
          </a:solidFill>
          <a:ln>
            <a:solidFill>
              <a:srgbClr val="0B38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13892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Aptos"/>
              </a:rPr>
              <a:t>3 minutes solo sketch · 4 minutes compare in pairs · as a room: what did everyone choose, and what did nobody choose?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5029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0B7E0"/>
                </a:solidFill>
                <a:latin typeface="Aptos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Tidy data: the shape charts want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Wickham, “Tidy Data” (2014)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34290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2305"/>
                </a:solidFill>
                <a:latin typeface="Aptos"/>
              </a:rPr>
              <a:t>COLUMN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2140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A0A0A"/>
                </a:solidFill>
                <a:latin typeface="Aptos"/>
              </a:rPr>
              <a:t>each variable is a column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554480"/>
            <a:ext cx="34290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1783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2305"/>
                </a:solidFill>
                <a:latin typeface="Aptos"/>
              </a:rPr>
              <a:t>ROW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12140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A0A0A"/>
                </a:solidFill>
                <a:latin typeface="Aptos"/>
              </a:rPr>
              <a:t>each observation is a row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554480"/>
            <a:ext cx="34290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783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2305"/>
                </a:solidFill>
                <a:latin typeface="Aptos"/>
              </a:rPr>
              <a:t>CELL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12140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A0A0A"/>
                </a:solidFill>
                <a:latin typeface="Aptos"/>
              </a:rPr>
              <a:t>each value is a cell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154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ptos"/>
              </a:rPr>
              <a:t>Wide → long is the reshape you will perform most often: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657600"/>
            <a:ext cx="106070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886200"/>
            <a:ext cx="10058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A0A0A"/>
                </a:solidFill>
                <a:latin typeface="Consolas"/>
              </a:rPr>
              <a:t>region      2023    2024    2025            region   year   riders
Inner       1.30M   1.41M   1.52M    →      Inner    2023   1.30M
Western     1.05M   1.13M   1.24M           Inner    2024   1.41M
                                            Western  2023   1.05M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9788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5A5F63"/>
                </a:solidFill>
                <a:latin typeface="Aptos"/>
              </a:rPr>
              <a:t>Tidy structure feeds Tableau, pandas, Altair, and AI-generated code.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AI-assisted wrangling: generate, then verify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How the World Is Organised · Gerard Kelly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81328"/>
            <a:ext cx="502920" cy="502920"/>
          </a:xfrm>
          <a:prstGeom prst="round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99616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4813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BEB"/>
                </a:solidFill>
                <a:latin typeface="Aptos"/>
              </a:rPr>
              <a:t>IDENTIFIERS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453896"/>
            <a:ext cx="77724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ptos"/>
              </a:rPr>
              <a:t>Are the key columns intact, no invented or dropped categories?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377440"/>
            <a:ext cx="502920" cy="502920"/>
          </a:xfrm>
          <a:prstGeom prst="round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3774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BEB"/>
                </a:solidFill>
                <a:latin typeface="Aptos"/>
              </a:rPr>
              <a:t>ROW 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50008"/>
            <a:ext cx="77724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ptos"/>
              </a:rPr>
              <a:t>Does the reshaped row count equal what arithmetic predicts?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73552"/>
            <a:ext cx="502920" cy="502920"/>
          </a:xfrm>
          <a:prstGeom prst="round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91840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355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BEB"/>
                </a:solidFill>
                <a:latin typeface="Aptos"/>
              </a:rPr>
              <a:t>TYPES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246120"/>
            <a:ext cx="77724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ptos"/>
              </a:rPr>
              <a:t>Numbers still numeric, dates still dates, no silent strings?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169664"/>
            <a:ext cx="502920" cy="502920"/>
          </a:xfrm>
          <a:prstGeom prst="round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87952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169664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BEB"/>
                </a:solidFill>
                <a:latin typeface="Aptos"/>
              </a:rPr>
              <a:t>MISSING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142232"/>
            <a:ext cx="77724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ptos"/>
              </a:rPr>
              <a:t>Where did NaNs appear, and are they real or created?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065776"/>
            <a:ext cx="502920" cy="502920"/>
          </a:xfrm>
          <a:prstGeom prst="round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84064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065776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BEB"/>
                </a:solidFill>
                <a:latin typeface="Aptos"/>
              </a:rPr>
              <a:t>SPOT TOTALS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038344"/>
            <a:ext cx="77724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ptos"/>
              </a:rPr>
              <a:t>Does one hand-computed total match the transformed table?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Notebook: classify, reshape, redesign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How the World Is Organised · Gerard Kelly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424160" cy="4480560"/>
          </a:xfrm>
          <a:prstGeom prst="rect">
            <a:avLst/>
          </a:prstGeom>
          <a:noFill/>
        </p:spPr>
        <p:txBody>
          <a:bodyPr wrap="square" lIns="45720" rIns="18288">
            <a:spAutoFit/>
          </a:bodyPr>
          <a:lstStyle/>
          <a:p>
            <a:pPr>
              <a:spcAft>
                <a:spcPts val="1100"/>
              </a:spcAft>
              <a:defRPr sz="2200">
                <a:solidFill>
                  <a:srgbClr val="0A0A0A"/>
                </a:solidFill>
                <a:latin typeface="Aptos"/>
              </a:defRPr>
            </a:pPr>
            <a:r>
              <a:t>•  Open visual_forms_activities.ipynb in VS Code; an AI assistant is available but not required.</a:t>
            </a:r>
          </a:p>
          <a:p>
            <a:pPr>
              <a:spcAft>
                <a:spcPts val="1100"/>
              </a:spcAft>
              <a:defRPr sz="2200">
                <a:solidFill>
                  <a:srgbClr val="0A0A0A"/>
                </a:solidFill>
                <a:latin typeface="Aptos"/>
              </a:defRPr>
            </a:pPr>
            <a:r>
              <a:t>•  Exercise 1: channel precision: judge the same values in five encodings.</a:t>
            </a:r>
          </a:p>
          <a:p>
            <a:pPr>
              <a:spcAft>
                <a:spcPts val="1100"/>
              </a:spcAft>
              <a:defRPr sz="2200">
                <a:solidFill>
                  <a:srgbClr val="0A0A0A"/>
                </a:solidFill>
                <a:latin typeface="Aptos"/>
              </a:defRPr>
            </a:pPr>
            <a:r>
              <a:t>•  Exercise 2: reshape the wide transport table to tidy long form; run the five checks.</a:t>
            </a:r>
          </a:p>
          <a:p>
            <a:pPr>
              <a:spcAft>
                <a:spcPts val="1100"/>
              </a:spcAft>
              <a:defRPr sz="2200">
                <a:solidFill>
                  <a:srgbClr val="0A0A0A"/>
                </a:solidFill>
                <a:latin typeface="Aptos"/>
              </a:defRPr>
            </a:pPr>
            <a:r>
              <a:t>•  Exercise 3: classify six analytical questions into Vocabulary categories and draft one chart.</a:t>
            </a:r>
          </a:p>
          <a:p>
            <a:pPr>
              <a:spcAft>
                <a:spcPts val="1100"/>
              </a:spcAft>
              <a:defRPr sz="2200">
                <a:solidFill>
                  <a:srgbClr val="0A0A0A"/>
                </a:solidFill>
                <a:latin typeface="Aptos"/>
              </a:defRPr>
            </a:pPr>
            <a:r>
              <a:t>•  Exercise 4: aspect ratio and baseline: same data, three impressions.</a:t>
            </a:r>
          </a:p>
          <a:p>
            <a:pPr>
              <a:spcAft>
                <a:spcPts val="1100"/>
              </a:spcAft>
              <a:defRPr sz="2200">
                <a:solidFill>
                  <a:srgbClr val="0A0A0A"/>
                </a:solidFill>
                <a:latin typeface="Aptos"/>
              </a:defRPr>
            </a:pPr>
            <a:r>
              <a:t>•  Exercise 5: colour: pick the palette family for three datasets, then prove it.</a:t>
            </a:r>
          </a:p>
          <a:p>
            <a:pPr>
              <a:spcAft>
                <a:spcPts val="1100"/>
              </a:spcAft>
              <a:defRPr sz="2200">
                <a:solidFill>
                  <a:srgbClr val="0A0A0A"/>
                </a:solidFill>
                <a:latin typeface="Aptos"/>
              </a:defRPr>
            </a:pPr>
            <a:r>
              <a:t>•  Exercise 6: redesign the weak chart three ways, one category per redesign.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B7E0"/>
                </a:solidFill>
                <a:latin typeface="Aptos"/>
              </a:rPr>
              <a:t>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607040" cy="2926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Back in 10 minutes.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4892040"/>
            <a:ext cx="10607040" cy="1051560"/>
          </a:xfrm>
          <a:prstGeom prst="roundRect">
            <a:avLst/>
          </a:prstGeom>
          <a:solidFill>
            <a:srgbClr val="0B38B9"/>
          </a:solidFill>
          <a:ln>
            <a:solidFill>
              <a:srgbClr val="0B38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13892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Aptos"/>
              </a:rPr>
              <a:t>When we return: the redesign studio: bring your weak-chart diagnosis.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5029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0B7E0"/>
                </a:solidFill>
                <a:latin typeface="Aptos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B7E0"/>
                </a:solidFill>
                <a:latin typeface="Aptos"/>
              </a:rPr>
              <a:t>THE COMMON MISTAKE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607040" cy="2926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Choosing the most impressive form instead of the form the task needs.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4892040"/>
            <a:ext cx="10607040" cy="1051560"/>
          </a:xfrm>
          <a:prstGeom prst="roundRect">
            <a:avLst/>
          </a:prstGeom>
          <a:solidFill>
            <a:srgbClr val="0B38B9"/>
          </a:solidFill>
          <a:ln>
            <a:solidFill>
              <a:srgbClr val="0B38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13892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Aptos"/>
              </a:rPr>
              <a:t>Does the visual form fit the task, or does it encourage an easier but wrong interpretation?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5029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0B7E0"/>
                </a:solidFill>
                <a:latin typeface="Aptos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B7E0"/>
                </a:solidFill>
                <a:latin typeface="Aptos"/>
              </a:rPr>
              <a:t>STUDIO · 45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7772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Redesign ×3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ptos"/>
              </a:rPr>
              <a:t>Take the weak chart. Redesign it three ways, each serving a different Visual Vocabulary category.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063240"/>
            <a:ext cx="2423160" cy="2011680"/>
          </a:xfrm>
          <a:prstGeom prst="roundRect">
            <a:avLst/>
          </a:prstGeom>
          <a:solidFill>
            <a:srgbClr val="0B38B9"/>
          </a:solidFill>
          <a:ln>
            <a:solidFill>
              <a:srgbClr val="0B38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3310128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B7E0"/>
                </a:solidFill>
                <a:latin typeface="Aptos"/>
              </a:rPr>
              <a:t>10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850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tos"/>
              </a:rPr>
              <a:t>Diagnose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160520"/>
            <a:ext cx="2011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Name the task the original fails.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063240"/>
            <a:ext cx="2423160" cy="2011680"/>
          </a:xfrm>
          <a:prstGeom prst="roundRect">
            <a:avLst/>
          </a:prstGeom>
          <a:solidFill>
            <a:srgbClr val="0B38B9"/>
          </a:solidFill>
          <a:ln>
            <a:solidFill>
              <a:srgbClr val="0B38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3310128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B7E0"/>
                </a:solidFill>
                <a:latin typeface="Aptos"/>
              </a:rPr>
              <a:t>15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36850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tos"/>
              </a:rPr>
              <a:t>Redesign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4160520"/>
            <a:ext cx="2011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Three sketches, three categories.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063240"/>
            <a:ext cx="2423160" cy="2011680"/>
          </a:xfrm>
          <a:prstGeom prst="roundRect">
            <a:avLst/>
          </a:prstGeom>
          <a:solidFill>
            <a:srgbClr val="0B38B9"/>
          </a:solidFill>
          <a:ln>
            <a:solidFill>
              <a:srgbClr val="0B38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3310128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B7E0"/>
                </a:solidFill>
                <a:latin typeface="Aptos"/>
              </a:rPr>
              <a:t>10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6850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tos"/>
              </a:rPr>
              <a:t>Classify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4160520"/>
            <a:ext cx="2011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Justify each category and form choice.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39" y="3063240"/>
            <a:ext cx="2423160" cy="2011680"/>
          </a:xfrm>
          <a:prstGeom prst="roundRect">
            <a:avLst/>
          </a:prstGeom>
          <a:solidFill>
            <a:srgbClr val="0B38B9"/>
          </a:solidFill>
          <a:ln>
            <a:solidFill>
              <a:srgbClr val="0B38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08007" y="3310128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B7E0"/>
                </a:solidFill>
                <a:latin typeface="Aptos"/>
              </a:rPr>
              <a:t>10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08007" y="36850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tos"/>
              </a:rPr>
              <a:t>Share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8007" y="4160520"/>
            <a:ext cx="2011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Trade one redesign; name one risk.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4BEB"/>
                </a:solidFill>
                <a:latin typeface="Aptos"/>
              </a:rPr>
              <a:t>CHOOSING VISUAL 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A0A0A"/>
                </a:solidFill>
                <a:latin typeface="Aptos"/>
              </a:rPr>
              <a:t>Today’s three-hour rhythm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14400" cy="45720"/>
          </a:xfrm>
          <a:prstGeom prst="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5A5F63"/>
                </a:solidFill>
                <a:latin typeface="Aptos"/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A5F63"/>
                </a:solidFill>
                <a:latin typeface="Aptos"/>
              </a:rPr>
              <a:t>How the World Is Organised · Gerard Kelly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3246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A5F63"/>
                </a:solidFill>
                <a:latin typeface="Aptos"/>
              </a:rPr>
              <a:t>36104 · UTS CRICOS 00099F · TEQSA PRV12060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45920"/>
            <a:ext cx="338328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3383280" cy="502920"/>
          </a:xfrm>
          <a:prstGeom prst="roundRect">
            <a:avLst/>
          </a:prstGeom>
          <a:solidFill>
            <a:srgbClr val="FF2305"/>
          </a:solidFill>
          <a:ln>
            <a:solidFill>
              <a:srgbClr val="FF23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2305"/>
                </a:solidFill>
                <a:latin typeface="Aptos"/>
              </a:rPr>
              <a:t>HOUR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2880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0A0A"/>
                </a:solidFill>
                <a:latin typeface="Aptos"/>
              </a:rPr>
              <a:t>Channels and the Vocabulary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86200"/>
            <a:ext cx="2788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A5F63"/>
                </a:solidFill>
                <a:latin typeface="Aptos"/>
              </a:rPr>
              <a:t>Precision · nine families · colour · baselines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2272" y="1645920"/>
            <a:ext cx="338328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62272" y="1645920"/>
            <a:ext cx="3383280" cy="502920"/>
          </a:xfrm>
          <a:prstGeom prst="roundRect">
            <a:avLst/>
          </a:prstGeom>
          <a:solidFill>
            <a:srgbClr val="0F4BEB"/>
          </a:solidFill>
          <a:ln>
            <a:solidFill>
              <a:srgbClr val="0F4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2423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BEB"/>
                </a:solidFill>
                <a:latin typeface="Aptos"/>
              </a:rPr>
              <a:t>HOUR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834640"/>
            <a:ext cx="2880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0A0A"/>
                </a:solidFill>
                <a:latin typeface="Aptos"/>
              </a:rPr>
              <a:t>Tidy data and AI wrangling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886200"/>
            <a:ext cx="2788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A5F63"/>
                </a:solidFill>
                <a:latin typeface="Aptos"/>
              </a:rPr>
              <a:t>Notebook: reshape, verify, classify, colour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4463" y="1645920"/>
            <a:ext cx="338328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E1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84463" y="1645920"/>
            <a:ext cx="3383280" cy="502920"/>
          </a:xfrm>
          <a:prstGeom prst="roundRect">
            <a:avLst/>
          </a:prstGeom>
          <a:solidFill>
            <a:srgbClr val="00B7E0"/>
          </a:solidFill>
          <a:ln>
            <a:solidFill>
              <a:srgbClr val="00B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3" y="2423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0B7E0"/>
                </a:solidFill>
                <a:latin typeface="Aptos"/>
              </a:rPr>
              <a:t>HOUR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3" y="2834640"/>
            <a:ext cx="2880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0A0A"/>
                </a:solidFill>
                <a:latin typeface="Aptos"/>
              </a:rPr>
              <a:t>Redesign studio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13063" y="3886200"/>
            <a:ext cx="2788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A5F63"/>
                </a:solidFill>
                <a:latin typeface="Aptos"/>
              </a:rPr>
              <a:t>Weak chart ×3 redesigns · critique · quiz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B7E0"/>
                </a:solidFill>
                <a:latin typeface="Aptos"/>
              </a:rPr>
              <a:t>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607040" cy="2926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15 minutes. Open book, closed assistant.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4892040"/>
            <a:ext cx="10607040" cy="1051560"/>
          </a:xfrm>
          <a:prstGeom prst="roundRect">
            <a:avLst/>
          </a:prstGeom>
          <a:solidFill>
            <a:srgbClr val="0B38B9"/>
          </a:solidFill>
          <a:ln>
            <a:solidFill>
              <a:srgbClr val="0B38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13892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Aptos"/>
              </a:rPr>
              <a:t>Today's vocabulary: channels and their precision, the nine task families, tidy data, the five wrangling checks.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5029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0B7E0"/>
                </a:solidFill>
                <a:latin typeface="Aptos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B7E0"/>
                </a:solidFill>
                <a:latin typeface="Aptos"/>
              </a:rPr>
              <a:t>EXIT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607040" cy="2926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Does the selected visual form fit the task, or does it encourage an easier but wrong interpretation?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4892040"/>
            <a:ext cx="10607040" cy="1051560"/>
          </a:xfrm>
          <a:prstGeom prst="roundRect">
            <a:avLst/>
          </a:prstGeom>
          <a:solidFill>
            <a:srgbClr val="0B38B9"/>
          </a:solidFill>
          <a:ln>
            <a:solidFill>
              <a:srgbClr val="0B38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13892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Aptos"/>
              </a:rPr>
              <a:t>Bring one chart you suspect uses the wrong form to the next class, it becomes Critique 2 material.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5029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0B7E0"/>
                </a:solidFill>
                <a:latin typeface="Aptos"/>
              </a:rPr>
              <a:t>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Choosing Visual Forms</dc:title>
  <dc:subject>36104 Data Visualisation and Narratives</dc:subject>
  <dc:creator>Gerard Kelly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