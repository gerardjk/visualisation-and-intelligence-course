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urs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640080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0A8B1"/>
                </a:solidFill>
                <a:latin typeface="Aptos"/>
              </a:rPr>
              <a:t>36104 · DATA VISUALISATION AND NARRATIVES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996696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Aptos"/>
              </a:rPr>
              <a:t>Seeing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9152"/>
            <a:ext cx="7955279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Aptos"/>
              </a:rPr>
              <a:t>Visualisation, intelligence,
and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66360"/>
            <a:ext cx="6858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0A8B1"/>
                </a:solidFill>
                <a:latin typeface="Aptos"/>
              </a:rPr>
              <a:t>How do charts create meaning?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Data Visualisation and Narratives · Spring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THE 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 chart is a claim about how the world is organised.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Opening question: What has the designer chosen to make visible—and what remains invisible?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By the end of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424160" cy="429768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Explain how selection, encoding and framing turn data into meaning.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Distinguish a fluent interpretation from a justified insight.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Identify omissions, uncertainty and governance questions in a visualisation.</a:t>
            </a:r>
          </a:p>
          <a:p>
            <a:pPr>
              <a:spcAft>
                <a:spcPts val="1100"/>
              </a:spcAft>
              <a:defRPr sz="2500">
                <a:solidFill>
                  <a:srgbClr val="1F262B"/>
                </a:solidFill>
                <a:latin typeface="Aptos"/>
              </a:defRPr>
            </a:pPr>
            <a:r>
              <a:t>•  Critique a human-made chart and an AI-generated interpretation.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From evidence to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187451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8678F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874519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22636"/>
                </a:solidFill>
                <a:latin typeface="Aptos"/>
              </a:rPr>
              <a:t>structured
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624328"/>
            <a:ext cx="4389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0116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19" y="2304288"/>
            <a:ext cx="187451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8678F"/>
                </a:solidFill>
                <a:latin typeface="Aptos"/>
              </a:rPr>
              <a:t>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19" y="2788920"/>
            <a:ext cx="1874519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22636"/>
                </a:solidFill>
                <a:latin typeface="Aptos"/>
              </a:rPr>
              <a:t>a selective
visual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624328"/>
            <a:ext cx="4389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04288"/>
            <a:ext cx="187451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8678F"/>
                </a:solidFill>
                <a:latin typeface="Aptos"/>
              </a:rPr>
              <a:t>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88920"/>
            <a:ext cx="1874519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22636"/>
                </a:solidFill>
                <a:latin typeface="Aptos"/>
              </a:rPr>
              <a:t>an interpretation
to justify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624328"/>
            <a:ext cx="43891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E6685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201168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39" y="2304288"/>
            <a:ext cx="187451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8678F"/>
                </a:solidFill>
                <a:latin typeface="Aptos"/>
              </a:rPr>
              <a:t>NARRATIVE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788920"/>
            <a:ext cx="1874519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22636"/>
                </a:solidFill>
                <a:latin typeface="Aptos"/>
              </a:rPr>
              <a:t>an ordered
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26C73"/>
                </a:solidFill>
                <a:latin typeface="Aptos"/>
              </a:rPr>
              <a:t>At every step: selection · comparison · compression · framing · omission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COLD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Four datasets. The same mean, variance, correlation and regression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Prediction: will the four datasets look essentially the same?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Looking changes the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06</a:t>
            </a:r>
          </a:p>
        </p:txBody>
      </p:sp>
      <p:pic>
        <p:nvPicPr>
          <p:cNvPr id="6" name="Picture 5" descr="fig-anscombe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222" y="1417320"/>
            <a:ext cx="6238036" cy="4800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600200"/>
            <a:ext cx="35661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74519"/>
            <a:ext cx="25603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66852"/>
                </a:solidFill>
                <a:latin typeface="Aptos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331720"/>
            <a:ext cx="2834640" cy="26517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F262B"/>
                </a:solidFill>
                <a:latin typeface="Aptos"/>
              </a:defRPr>
            </a:pPr>
            <a:r>
              <a:t>•  What does the summary hide?</a:t>
            </a:r>
          </a:p>
          <a:p>
            <a:pPr>
              <a:spcAft>
                <a:spcPts val="1100"/>
              </a:spcAft>
              <a:defRPr sz="2000">
                <a:solidFill>
                  <a:srgbClr val="1F262B"/>
                </a:solidFill>
                <a:latin typeface="Aptos"/>
              </a:defRPr>
            </a:pPr>
            <a:r>
              <a:t>•  Which panel changes your interpretation most?</a:t>
            </a:r>
          </a:p>
          <a:p>
            <a:pPr>
              <a:spcAft>
                <a:spcPts val="1100"/>
              </a:spcAft>
              <a:defRPr sz="2000">
                <a:solidFill>
                  <a:srgbClr val="1F262B"/>
                </a:solidFill>
                <a:latin typeface="Aptos"/>
              </a:defRPr>
            </a:pPr>
            <a:r>
              <a:t>•  What verification should precede a claim?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Anscombe (1973) · reproduction generated from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A picture can become an argument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07</a:t>
            </a:r>
          </a:p>
        </p:txBody>
      </p:sp>
      <p:pic>
        <p:nvPicPr>
          <p:cNvPr id="6" name="Picture 5" descr="fig-snow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813" y="1417320"/>
            <a:ext cx="46065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64208"/>
            <a:ext cx="34747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22636"/>
                </a:solidFill>
                <a:latin typeface="Aptos"/>
              </a:rPr>
              <a:t>John Snow’s cholera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514600"/>
            <a:ext cx="3429000" cy="1325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1F262B"/>
                </a:solidFill>
                <a:latin typeface="Aptos"/>
              </a:rPr>
              <a:t>Deaths cluster around a water pump. Spatial arrangement turns individual cases into a claim about cause.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160520"/>
            <a:ext cx="3429000" cy="1143000"/>
          </a:xfrm>
          <a:prstGeom prst="roundRect">
            <a:avLst/>
          </a:prstGeom>
          <a:solidFill>
            <a:srgbClr val="E4EDE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65008" y="4370832"/>
            <a:ext cx="29260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22636"/>
                </a:solidFill>
                <a:latin typeface="Aptos"/>
              </a:rPr>
              <a:t>Question
What evidence would strengthen—or weaken—the causal claim?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Snow (1855) · reproduction generated from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VISUALISATION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Fluent interpretation is not the same as valid interpretation.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An AI system can describe a pattern confidently without checking whether the data supports the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A verification ladder for generated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81328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9616"/>
            <a:ext cx="502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81328"/>
            <a:ext cx="1325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53896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What data and transformation produced the chart?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77440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502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77440"/>
            <a:ext cx="1325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50008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Do labels, scales, units and totals agree?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73552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02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73552"/>
            <a:ext cx="1325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246120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Does the visual pattern survive another view?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69664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87952"/>
            <a:ext cx="502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69664"/>
            <a:ext cx="1325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142232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What uncertainty or limitation qualifies the claim?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65776"/>
            <a:ext cx="50292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84064"/>
            <a:ext cx="5029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065776"/>
            <a:ext cx="1325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678F"/>
                </a:solidFill>
                <a:latin typeface="Aptos"/>
              </a:rPr>
              <a:t>DISCLOSE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03834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F262B"/>
                </a:solidFill>
                <a:latin typeface="Aptos"/>
              </a:rPr>
              <a:t>What did the intelligent tool contribute?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Representation is also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fig-aiatsis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72" y="1417320"/>
            <a:ext cx="5338655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1572768"/>
            <a:ext cx="4663440" cy="416052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Who is represented—and who is absent?</a:t>
            </a:r>
          </a:p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Who collected, controls and can reuse the data?</a:t>
            </a:r>
          </a:p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Who benefits from the visualisation?</a:t>
            </a:r>
          </a:p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Who could be harmed or misled?</a:t>
            </a:r>
          </a:p>
          <a:p>
            <a:pPr>
              <a:spcAft>
                <a:spcPts val="1100"/>
              </a:spcAft>
              <a:defRPr sz="2100">
                <a:solidFill>
                  <a:srgbClr val="1F262B"/>
                </a:solidFill>
                <a:latin typeface="Aptos"/>
              </a:defRPr>
            </a:pPr>
            <a:r>
              <a:t>•  What should not be visualised?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AIATSIS acknowledgement placeholder—not the copyright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The small vocabulary of visual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11</a:t>
            </a:r>
          </a:p>
        </p:txBody>
      </p:sp>
      <p:pic>
        <p:nvPicPr>
          <p:cNvPr id="6" name="Picture 5" descr="fig-bertin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40" y="1417320"/>
            <a:ext cx="7265079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691640"/>
            <a:ext cx="29260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Bertin’s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331720"/>
            <a:ext cx="2834640" cy="3337560"/>
          </a:xfrm>
          <a:prstGeom prst="rect">
            <a:avLst/>
          </a:prstGeom>
          <a:noFill/>
        </p:spPr>
        <p:txBody>
          <a:bodyPr wrap="square" lIns="45720" rIns="18288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Position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Size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Value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Texture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Colour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Orientation</a:t>
            </a:r>
          </a:p>
          <a:p>
            <a:pPr>
              <a:spcAft>
                <a:spcPts val="1100"/>
              </a:spcAft>
              <a:defRPr sz="1900">
                <a:solidFill>
                  <a:srgbClr val="1F262B"/>
                </a:solidFill>
                <a:latin typeface="Aptos"/>
              </a:defRPr>
            </a:pPr>
            <a:r>
              <a:t>• 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Bertin (1967) · reproduction generated from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Critique the claim, not just the appearance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45920"/>
            <a:ext cx="33375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What does the chart invite us to believe?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81328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64208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645920"/>
            <a:ext cx="33375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Who is expected to act on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45536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27248"/>
            <a:ext cx="33375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What comparison or judgement must they make?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62656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145536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127248"/>
            <a:ext cx="33375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What supports—or fails to support—the claim?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26864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OMISSIONS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608576"/>
            <a:ext cx="33375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What is missing, compressed or hidden?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443984"/>
            <a:ext cx="5257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626864"/>
            <a:ext cx="1417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6852"/>
                </a:solidFill>
                <a:latin typeface="Aptos"/>
              </a:rPr>
              <a:t>RESPONSIBILITY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608576"/>
            <a:ext cx="333756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2636"/>
                </a:solidFill>
                <a:latin typeface="Aptos"/>
              </a:rPr>
              <a:t>Who benefits, and who carries the risk?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STUDIO · 45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502920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Critique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6070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ptos"/>
              </a:rPr>
              <a:t>Compare one human-made chart with one AI-generated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3310128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85032"/>
            <a:ext cx="20116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199339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Write the claim in one sentence.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3310128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3685032"/>
            <a:ext cx="20116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Interrogate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4160520"/>
            <a:ext cx="199339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Check audience, task, evidence and omissions.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0128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685032"/>
            <a:ext cx="20116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160520"/>
            <a:ext cx="199339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Test one claim against the data or source.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3063240"/>
            <a:ext cx="2423160" cy="201168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7" y="3310128"/>
            <a:ext cx="20116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10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3685032"/>
            <a:ext cx="201168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4160520"/>
            <a:ext cx="1993392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Name one repair and one limitation.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8678F"/>
                </a:solidFill>
                <a:latin typeface="Aptos"/>
              </a:rPr>
              <a:t>SEEING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78992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22636"/>
                </a:solidFill>
                <a:latin typeface="Aptos"/>
              </a:rPr>
              <a:t>Today’s three-hour rhythm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914400" cy="45720"/>
          </a:xfrm>
          <a:prstGeom prst="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626C73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383280" cy="502920"/>
          </a:xfrm>
          <a:prstGeom prst="roundRect">
            <a:avLst/>
          </a:prstGeom>
          <a:solidFill>
            <a:srgbClr val="E66852"/>
          </a:solidFill>
          <a:ln>
            <a:solidFill>
              <a:srgbClr val="E66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926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66852"/>
                </a:solidFill>
                <a:latin typeface="Aptos"/>
              </a:rPr>
              <a:t>HOUR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28803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Charts make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27889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Anscombe · evidence → narrative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645920"/>
            <a:ext cx="3383280" cy="502920"/>
          </a:xfrm>
          <a:prstGeom prst="roundRect">
            <a:avLst/>
          </a:prstGeom>
          <a:solidFill>
            <a:srgbClr val="18678F"/>
          </a:solidFill>
          <a:ln>
            <a:solidFill>
              <a:srgbClr val="186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423160"/>
            <a:ext cx="2926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678F"/>
                </a:solidFill>
                <a:latin typeface="Aptos"/>
              </a:rPr>
              <a:t>HOUR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834640"/>
            <a:ext cx="28803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Seeing and framing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886200"/>
            <a:ext cx="27889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Snow · Bertin · visual channels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3" y="1645920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4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3" y="1645920"/>
            <a:ext cx="3383280" cy="502920"/>
          </a:xfrm>
          <a:prstGeom prst="roundRect">
            <a:avLst/>
          </a:prstGeom>
          <a:solidFill>
            <a:srgbClr val="30A8B1"/>
          </a:solidFill>
          <a:ln>
            <a:solidFill>
              <a:srgbClr val="30A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3" y="2423160"/>
            <a:ext cx="29260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0A8B1"/>
                </a:solidFill>
                <a:latin typeface="Aptos"/>
              </a:rPr>
              <a:t>HOUR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3" y="2834640"/>
            <a:ext cx="288036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22636"/>
                </a:solidFill>
                <a:latin typeface="Aptos"/>
              </a:rPr>
              <a:t>Critique and responsibility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3" y="3886200"/>
            <a:ext cx="27889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626C73"/>
                </a:solidFill>
                <a:latin typeface="Aptos"/>
              </a:rPr>
              <a:t>AI interpretation · AIATSIS · 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0467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26C73"/>
                </a:solidFill>
                <a:latin typeface="Aptos"/>
              </a:rPr>
              <a:t>How the World Is Organised · Gerard Kelly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565392"/>
            <a:ext cx="32461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26C73"/>
                </a:solidFill>
                <a:latin typeface="Aptos"/>
              </a:rPr>
              <a:t>36104 Data Visualisation and Narratives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0A8B1"/>
                </a:solidFill>
                <a:latin typeface="Aptos"/>
              </a:rPr>
              <a:t>EXIT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2926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Could this visualisation lead someone to believe something the data does not support?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892040"/>
            <a:ext cx="10607040" cy="1051560"/>
          </a:xfrm>
          <a:prstGeom prst="roundRect">
            <a:avLst/>
          </a:prstGeom>
          <a:solidFill>
            <a:srgbClr val="1E394A"/>
          </a:solidFill>
          <a:ln>
            <a:solidFill>
              <a:srgbClr val="1E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38928"/>
            <a:ext cx="1005840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Complete the diagnostic quiz, then record one claim you would verify before sharing the chart.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502920"/>
            <a:ext cx="4572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30A8B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Seeing Data</dc:title>
  <dc:subject>36104 Data Visualisation and Narratives</dc:subject>
  <dc:creator>Gerard Kelly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